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5" r:id="rId9"/>
    <p:sldId id="269" r:id="rId10"/>
    <p:sldId id="270" r:id="rId11"/>
    <p:sldId id="271" r:id="rId12"/>
    <p:sldId id="272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9" d="100"/>
          <a:sy n="69" d="100"/>
        </p:scale>
        <p:origin x="756" y="6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B36F55E-9AA6-424D-8F96-934112A7BAC9}" type="datetimeFigureOut">
              <a:rPr lang="en-US" smtClean="0"/>
              <a:t>14/10/2026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187D397-544A-4E86-B1BA-8BFB691631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98084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87D397-544A-4E86-B1BA-8BFB6916315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258866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87D397-544A-4E86-B1BA-8BFB6916315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50250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14/10/2026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14/10/2026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14/10/2026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14/10/2026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14/10/2026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14/10/2026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14/10/2026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14/10/2026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14/10/2026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14/10/2026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14/10/2026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14/10/2026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project7-5rnntdqjfqfuawadsinped.streamlit.app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https://project7-5rnntdqjfqfuawadsinped.streamlit.app/" TargetMode="Externa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914400" y="1051560"/>
            <a:ext cx="4775200" cy="3657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60A5FA"/>
                </a:solidFill>
                <a:latin typeface="Calibri"/>
              </a:defRPr>
            </a:pPr>
            <a:r>
              <a:rPr sz="1500" dirty="0"/>
              <a:t>🚨 CRISIS SENTINEL AI: DISASTER NLP 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510884"/>
            <a:ext cx="10332720" cy="21185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Calibri"/>
              </a:defRPr>
            </a:pPr>
            <a:r>
              <a:rPr sz="3500" dirty="0"/>
              <a:t>Real-Time Disaster Tweet Detection &amp; NLP Intelligence</a:t>
            </a:r>
          </a:p>
          <a:p>
            <a:pPr>
              <a:spcBef>
                <a:spcPts val="800"/>
              </a:spcBef>
              <a:defRPr sz="1500">
                <a:solidFill>
                  <a:srgbClr val="94A3B8"/>
                </a:solidFill>
                <a:latin typeface="Calibri"/>
              </a:defRPr>
            </a:pPr>
            <a:r>
              <a:rPr sz="2000" dirty="0"/>
              <a:t>Senior Data Scientist Technical Report: Data Preprocessing, Deep EDA, Multi-Model Benchmarking &amp; Streamlit Deployment</a:t>
            </a:r>
          </a:p>
          <a:p>
            <a:pPr>
              <a:spcBef>
                <a:spcPts val="1200"/>
              </a:spcBef>
              <a:defRPr sz="1150" b="1">
                <a:solidFill>
                  <a:srgbClr val="F59E0B"/>
                </a:solidFill>
                <a:latin typeface="Calibri"/>
              </a:defRPr>
            </a:pPr>
            <a:r>
              <a:rPr dirty="0" smtClean="0"/>
              <a:t> </a:t>
            </a:r>
            <a:r>
              <a:rPr sz="1500" dirty="0"/>
              <a:t>Data Scientist &amp; ML Engineer: GOVIND MISHRA  |  Twitter Disaster Corpus (7,613 Records)  |  Streamlit </a:t>
            </a:r>
            <a:r>
              <a:rPr sz="1500" dirty="0" smtClean="0"/>
              <a:t>Port</a:t>
            </a:r>
            <a:r>
              <a:rPr lang="en-US" sz="1500" dirty="0" smtClean="0"/>
              <a:t>:</a:t>
            </a:r>
            <a:endParaRPr lang="en-US" sz="1500" dirty="0"/>
          </a:p>
          <a:p>
            <a:pPr>
              <a:spcBef>
                <a:spcPts val="1200"/>
              </a:spcBef>
              <a:defRPr sz="1150" b="1">
                <a:solidFill>
                  <a:srgbClr val="F59E0B"/>
                </a:solidFill>
                <a:latin typeface="Calibri"/>
              </a:defRPr>
            </a:pPr>
            <a:r>
              <a:rPr sz="1500" dirty="0" smtClean="0">
                <a:hlinkClick r:id="rId3"/>
              </a:rPr>
              <a:t> </a:t>
            </a:r>
            <a:r>
              <a:rPr lang="en-US" sz="1500" dirty="0">
                <a:hlinkClick r:id="rId3"/>
              </a:rPr>
              <a:t>https://</a:t>
            </a:r>
            <a:r>
              <a:rPr lang="en-US" sz="1500" dirty="0" smtClean="0">
                <a:hlinkClick r:id="rId3"/>
              </a:rPr>
              <a:t>project7-5rnntdqjfqfuawadsinped.streamlit.app</a:t>
            </a:r>
            <a:r>
              <a:rPr lang="en-US" sz="1500" dirty="0">
                <a:hlinkClick r:id="rId3"/>
              </a:rPr>
              <a:t>/</a:t>
            </a:r>
            <a:r>
              <a:rPr sz="1500" dirty="0" smtClean="0">
                <a:hlinkClick r:id="rId3"/>
              </a:rPr>
              <a:t> </a:t>
            </a:r>
            <a:r>
              <a:rPr sz="1500" dirty="0"/>
              <a:t>Production Deployed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4297680"/>
            <a:ext cx="2423160" cy="16459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914400" y="4297680"/>
            <a:ext cx="2423160" cy="508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51560" y="4407408"/>
            <a:ext cx="2148840" cy="106695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59669"/>
                </a:solidFill>
                <a:latin typeface="Calibri"/>
              </a:defRPr>
            </a:pPr>
            <a:r>
              <a:rPr dirty="0"/>
              <a:t>87.79%</a:t>
            </a:r>
          </a:p>
          <a:p>
            <a:pPr>
              <a:spcBef>
                <a:spcPts val="200"/>
              </a:spcBef>
              <a:defRPr sz="950" b="1">
                <a:solidFill>
                  <a:srgbClr val="FFFFFF"/>
                </a:solidFill>
                <a:latin typeface="Calibri"/>
              </a:defRPr>
            </a:pPr>
            <a:r>
              <a:rPr sz="1500" dirty="0"/>
              <a:t>WINNER ACCURACY</a:t>
            </a:r>
          </a:p>
          <a:p>
            <a:pPr>
              <a:spcBef>
                <a:spcPts val="200"/>
              </a:spcBef>
              <a:defRPr sz="850">
                <a:solidFill>
                  <a:srgbClr val="CBD5E1"/>
                </a:solidFill>
                <a:latin typeface="Calibri"/>
              </a:defRPr>
            </a:pPr>
            <a:r>
              <a:rPr sz="1500" dirty="0"/>
              <a:t>DistilBERT Transformer Generalization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57016" y="4297680"/>
            <a:ext cx="2423160" cy="16459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557016" y="4297680"/>
            <a:ext cx="2423160" cy="508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94176" y="4407408"/>
            <a:ext cx="2148840" cy="106695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7C3AED"/>
                </a:solidFill>
                <a:latin typeface="Calibri"/>
              </a:defRPr>
            </a:pPr>
            <a:r>
              <a:rPr dirty="0"/>
              <a:t>0.8547</a:t>
            </a:r>
          </a:p>
          <a:p>
            <a:pPr>
              <a:spcBef>
                <a:spcPts val="200"/>
              </a:spcBef>
              <a:defRPr sz="950" b="1">
                <a:solidFill>
                  <a:srgbClr val="FFFFFF"/>
                </a:solidFill>
                <a:latin typeface="Calibri"/>
              </a:defRPr>
            </a:pPr>
            <a:r>
              <a:rPr sz="1500" dirty="0"/>
              <a:t>WINNER F1-SCORE</a:t>
            </a:r>
          </a:p>
          <a:p>
            <a:pPr>
              <a:spcBef>
                <a:spcPts val="200"/>
              </a:spcBef>
              <a:defRPr sz="850">
                <a:solidFill>
                  <a:srgbClr val="CBD5E1"/>
                </a:solidFill>
                <a:latin typeface="Calibri"/>
              </a:defRPr>
            </a:pPr>
            <a:r>
              <a:rPr sz="1500" dirty="0"/>
              <a:t>Optimal harmonic precision &amp; recall index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9632" y="4297680"/>
            <a:ext cx="2423160" cy="16459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199632" y="4297680"/>
            <a:ext cx="2423160" cy="508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36792" y="4407408"/>
            <a:ext cx="2148840" cy="106695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2563EB"/>
                </a:solidFill>
                <a:latin typeface="Calibri"/>
              </a:defRPr>
            </a:pPr>
            <a:r>
              <a:rPr dirty="0"/>
              <a:t>6,012.9</a:t>
            </a:r>
          </a:p>
          <a:p>
            <a:pPr>
              <a:spcBef>
                <a:spcPts val="200"/>
              </a:spcBef>
              <a:defRPr sz="950" b="1">
                <a:solidFill>
                  <a:srgbClr val="FFFFFF"/>
                </a:solidFill>
                <a:latin typeface="Calibri"/>
              </a:defRPr>
            </a:pPr>
            <a:r>
              <a:rPr sz="1500" dirty="0"/>
              <a:t>TWEETS / SECOND</a:t>
            </a:r>
          </a:p>
          <a:p>
            <a:pPr>
              <a:spcBef>
                <a:spcPts val="200"/>
              </a:spcBef>
              <a:defRPr sz="850">
                <a:solidFill>
                  <a:srgbClr val="CBD5E1"/>
                </a:solidFill>
                <a:latin typeface="Calibri"/>
              </a:defRPr>
            </a:pPr>
            <a:r>
              <a:rPr sz="1500" dirty="0"/>
              <a:t>Sub-0.17 ms Hybrid Ensemble Stream SLA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842248" y="4297680"/>
            <a:ext cx="2423160" cy="16459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842248" y="4297680"/>
            <a:ext cx="2423160" cy="508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979408" y="4407408"/>
            <a:ext cx="2148840" cy="106695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DC2626"/>
                </a:solidFill>
                <a:latin typeface="Calibri"/>
              </a:defRPr>
            </a:pPr>
            <a:r>
              <a:rPr dirty="0"/>
              <a:t>&gt; 45%</a:t>
            </a:r>
          </a:p>
          <a:p>
            <a:pPr>
              <a:spcBef>
                <a:spcPts val="200"/>
              </a:spcBef>
              <a:defRPr sz="950" b="1">
                <a:solidFill>
                  <a:srgbClr val="FFFFFF"/>
                </a:solidFill>
                <a:latin typeface="Calibri"/>
              </a:defRPr>
            </a:pPr>
            <a:r>
              <a:rPr sz="1500" dirty="0"/>
              <a:t>FALSE ALARM DROP</a:t>
            </a:r>
          </a:p>
          <a:p>
            <a:pPr>
              <a:spcBef>
                <a:spcPts val="200"/>
              </a:spcBef>
              <a:defRPr sz="850">
                <a:solidFill>
                  <a:srgbClr val="CBD5E1"/>
                </a:solidFill>
                <a:latin typeface="Calibri"/>
              </a:defRPr>
            </a:pPr>
            <a:r>
              <a:rPr sz="1500" dirty="0"/>
              <a:t>Decision threshold optimization (T* = 0.40</a:t>
            </a:r>
            <a:r>
              <a:rPr dirty="0"/>
              <a:t>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92608"/>
            <a:ext cx="7315200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Calibri"/>
              </a:defRPr>
            </a:pPr>
            <a:r>
              <a:rPr sz="1400" dirty="0"/>
              <a:t>EXECUTIVE OVERVIEW &amp; PROBLEM FRAMING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30352"/>
            <a:ext cx="10728655" cy="3847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Calibri"/>
              </a:defRPr>
            </a:pPr>
            <a:r>
              <a:rPr sz="2500" dirty="0"/>
              <a:t>Business Context: Real-Time Social Media Crisis 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60120"/>
            <a:ext cx="10728655" cy="2308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>
                <a:solidFill>
                  <a:srgbClr val="64748B"/>
                </a:solidFill>
                <a:latin typeface="Calibri"/>
              </a:defRPr>
            </a:pPr>
            <a:r>
              <a:rPr sz="1500" dirty="0"/>
              <a:t>Overcoming social media noise to extract life-critical disaster signals with sub-millisecond latency</a:t>
            </a:r>
            <a:r>
              <a:rPr dirty="0"/>
              <a:t>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61872"/>
            <a:ext cx="10728655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2542032" cy="39542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1463040"/>
            <a:ext cx="2542032" cy="508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96112" y="1627632"/>
            <a:ext cx="2221992" cy="351378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2563EB"/>
                </a:solidFill>
                <a:latin typeface="Calibri"/>
              </a:defRPr>
            </a:pPr>
            <a:r>
              <a:rPr dirty="0"/>
              <a:t>01</a:t>
            </a:r>
          </a:p>
          <a:p>
            <a:pPr>
              <a:spcBef>
                <a:spcPts val="400"/>
              </a:spcBef>
              <a:defRPr sz="1300" b="1">
                <a:solidFill>
                  <a:srgbClr val="0F172A"/>
                </a:solidFill>
                <a:latin typeface="Calibri"/>
              </a:defRPr>
            </a:pPr>
            <a:r>
              <a:rPr sz="1500" dirty="0"/>
              <a:t>The Social Noise </a:t>
            </a:r>
            <a:r>
              <a:rPr sz="1500" dirty="0" smtClean="0"/>
              <a:t>Challenge</a:t>
            </a:r>
            <a:endParaRPr dirty="0"/>
          </a:p>
          <a:p>
            <a:pPr>
              <a:spcBef>
                <a:spcPts val="800"/>
              </a:spcBef>
              <a:defRPr sz="950">
                <a:solidFill>
                  <a:srgbClr val="334155"/>
                </a:solidFill>
                <a:latin typeface="Calibri"/>
              </a:defRPr>
            </a:pPr>
            <a:r>
              <a:rPr sz="1400" dirty="0"/>
              <a:t>• Emergency feeds are inundated with millions of tweets during natural hazards.</a:t>
            </a:r>
          </a:p>
          <a:p>
            <a:pPr>
              <a:spcBef>
                <a:spcPts val="800"/>
              </a:spcBef>
              <a:defRPr sz="950">
                <a:solidFill>
                  <a:srgbClr val="334155"/>
                </a:solidFill>
                <a:latin typeface="Calibri"/>
              </a:defRPr>
            </a:pPr>
            <a:r>
              <a:rPr sz="1400" dirty="0"/>
              <a:t>• Casual slang and metaphorical hyperboles ('that test killed me', 'pure fire') trigger rampant false alarms.</a:t>
            </a:r>
          </a:p>
          <a:p>
            <a:pPr>
              <a:spcBef>
                <a:spcPts val="800"/>
              </a:spcBef>
              <a:defRPr sz="950">
                <a:solidFill>
                  <a:srgbClr val="334155"/>
                </a:solidFill>
                <a:latin typeface="Calibri"/>
              </a:defRPr>
            </a:pPr>
            <a:r>
              <a:rPr sz="1400" dirty="0"/>
              <a:t>• Standard Bag-of-Words and lexicon filters experience &gt;60% false positive rates on informal slang.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56432" y="1463040"/>
            <a:ext cx="2542032" cy="39542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456432" y="1463040"/>
            <a:ext cx="2542032" cy="508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21024" y="1627632"/>
            <a:ext cx="2221992" cy="351378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DC2626"/>
                </a:solidFill>
                <a:latin typeface="Calibri"/>
              </a:defRPr>
            </a:pPr>
            <a:r>
              <a:rPr dirty="0"/>
              <a:t>02</a:t>
            </a:r>
          </a:p>
          <a:p>
            <a:pPr>
              <a:spcBef>
                <a:spcPts val="400"/>
              </a:spcBef>
              <a:defRPr sz="1300" b="1">
                <a:solidFill>
                  <a:srgbClr val="0F172A"/>
                </a:solidFill>
                <a:latin typeface="Calibri"/>
              </a:defRPr>
            </a:pPr>
            <a:r>
              <a:rPr sz="1500" dirty="0"/>
              <a:t>Asymmetric Risk </a:t>
            </a:r>
            <a:r>
              <a:rPr sz="1500" dirty="0" smtClean="0"/>
              <a:t>Profile</a:t>
            </a:r>
            <a:endParaRPr dirty="0"/>
          </a:p>
          <a:p>
            <a:pPr>
              <a:spcBef>
                <a:spcPts val="800"/>
              </a:spcBef>
              <a:defRPr sz="950">
                <a:solidFill>
                  <a:srgbClr val="334155"/>
                </a:solidFill>
                <a:latin typeface="Calibri"/>
              </a:defRPr>
            </a:pPr>
            <a:r>
              <a:rPr sz="1400" dirty="0"/>
              <a:t>• False Negatives result in delayed emergency dispatch, uncoordinated evacuations, and preventable casualties.</a:t>
            </a:r>
          </a:p>
          <a:p>
            <a:pPr>
              <a:spcBef>
                <a:spcPts val="800"/>
              </a:spcBef>
              <a:defRPr sz="950">
                <a:solidFill>
                  <a:srgbClr val="334155"/>
                </a:solidFill>
                <a:latin typeface="Calibri"/>
              </a:defRPr>
            </a:pPr>
            <a:r>
              <a:rPr sz="1400" dirty="0"/>
              <a:t>• False Positives waste municipal resources and induce warning fatigue among emergency responders.</a:t>
            </a:r>
          </a:p>
          <a:p>
            <a:pPr>
              <a:spcBef>
                <a:spcPts val="800"/>
              </a:spcBef>
              <a:defRPr sz="950">
                <a:solidFill>
                  <a:srgbClr val="334155"/>
                </a:solidFill>
                <a:latin typeface="Calibri"/>
              </a:defRPr>
            </a:pPr>
            <a:r>
              <a:rPr sz="1400" dirty="0"/>
              <a:t>• System requires calibrated decision boundaries tuned for high crisis recall without alarm flooding</a:t>
            </a:r>
            <a:r>
              <a:rPr sz="1200" dirty="0"/>
              <a:t>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81344" y="1463040"/>
            <a:ext cx="2542032" cy="39542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181344" y="1463040"/>
            <a:ext cx="2542032" cy="508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45936" y="1627632"/>
            <a:ext cx="2221992" cy="372922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7C3AED"/>
                </a:solidFill>
                <a:latin typeface="Calibri"/>
              </a:defRPr>
            </a:pPr>
            <a:r>
              <a:rPr dirty="0"/>
              <a:t>03</a:t>
            </a:r>
          </a:p>
          <a:p>
            <a:pPr>
              <a:spcBef>
                <a:spcPts val="400"/>
              </a:spcBef>
              <a:defRPr sz="1300" b="1">
                <a:solidFill>
                  <a:srgbClr val="0F172A"/>
                </a:solidFill>
                <a:latin typeface="Calibri"/>
              </a:defRPr>
            </a:pPr>
            <a:r>
              <a:rPr sz="1500" dirty="0"/>
              <a:t>Dual Production </a:t>
            </a:r>
            <a:r>
              <a:rPr sz="1500" dirty="0" smtClean="0"/>
              <a:t>Mandate</a:t>
            </a:r>
            <a:endParaRPr sz="1200" dirty="0" smtClean="0"/>
          </a:p>
          <a:p>
            <a:pPr>
              <a:spcBef>
                <a:spcPts val="800"/>
              </a:spcBef>
              <a:defRPr sz="950">
                <a:solidFill>
                  <a:srgbClr val="334155"/>
                </a:solidFill>
                <a:latin typeface="Calibri"/>
              </a:defRPr>
            </a:pPr>
            <a:r>
              <a:rPr sz="1400" dirty="0" smtClean="0"/>
              <a:t>• Generalization Requirement: Deep semantic comprehension capable of disambiguating metaphorical text.</a:t>
            </a:r>
          </a:p>
          <a:p>
            <a:pPr>
              <a:spcBef>
                <a:spcPts val="800"/>
              </a:spcBef>
              <a:defRPr sz="950">
                <a:solidFill>
                  <a:srgbClr val="334155"/>
                </a:solidFill>
                <a:latin typeface="Calibri"/>
              </a:defRPr>
            </a:pPr>
            <a:r>
              <a:rPr sz="1400" dirty="0" smtClean="0"/>
              <a:t>• Latency Requirement: Processing streaming Twitter firehoses (&gt;5,000 tweets/sec) within sub-millisecond SLA.</a:t>
            </a:r>
          </a:p>
          <a:p>
            <a:pPr>
              <a:spcBef>
                <a:spcPts val="800"/>
              </a:spcBef>
              <a:defRPr sz="950">
                <a:solidFill>
                  <a:srgbClr val="334155"/>
                </a:solidFill>
                <a:latin typeface="Calibri"/>
              </a:defRPr>
            </a:pPr>
            <a:r>
              <a:rPr sz="1400" dirty="0" smtClean="0"/>
              <a:t>• Dual-engine approach: Transformer accuracy backed by hybrid ML ensemble efficiency.</a:t>
            </a:r>
            <a:endParaRPr sz="1400" dirty="0"/>
          </a:p>
        </p:txBody>
      </p:sp>
      <p:sp>
        <p:nvSpPr>
          <p:cNvPr id="16" name="Rounded Rectangle 15"/>
          <p:cNvSpPr/>
          <p:nvPr/>
        </p:nvSpPr>
        <p:spPr>
          <a:xfrm>
            <a:off x="8906256" y="1463040"/>
            <a:ext cx="2542032" cy="39542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906256" y="1463040"/>
            <a:ext cx="2542032" cy="508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070848" y="1627632"/>
            <a:ext cx="2221992" cy="372922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59669"/>
                </a:solidFill>
                <a:latin typeface="Calibri"/>
              </a:defRPr>
            </a:pPr>
            <a:r>
              <a:rPr dirty="0"/>
              <a:t>04</a:t>
            </a:r>
          </a:p>
          <a:p>
            <a:pPr>
              <a:spcBef>
                <a:spcPts val="400"/>
              </a:spcBef>
              <a:defRPr sz="1300" b="1">
                <a:solidFill>
                  <a:srgbClr val="0F172A"/>
                </a:solidFill>
                <a:latin typeface="Calibri"/>
              </a:defRPr>
            </a:pPr>
            <a:r>
              <a:rPr sz="1500" dirty="0"/>
              <a:t>Project </a:t>
            </a:r>
            <a:r>
              <a:rPr sz="1500" dirty="0" smtClean="0"/>
              <a:t>Deliverables</a:t>
            </a:r>
            <a:endParaRPr dirty="0"/>
          </a:p>
          <a:p>
            <a:pPr>
              <a:spcBef>
                <a:spcPts val="800"/>
              </a:spcBef>
              <a:defRPr sz="950">
                <a:solidFill>
                  <a:srgbClr val="334155"/>
                </a:solidFill>
                <a:latin typeface="Calibri"/>
              </a:defRPr>
            </a:pPr>
            <a:r>
              <a:rPr sz="1400" dirty="0"/>
              <a:t>• End-to-end NLP engineering pipeline: Data cleaning, feature extraction, cross-validation &amp; hyperparameter tuning.</a:t>
            </a:r>
          </a:p>
          <a:p>
            <a:pPr>
              <a:spcBef>
                <a:spcPts val="800"/>
              </a:spcBef>
              <a:defRPr sz="950">
                <a:solidFill>
                  <a:srgbClr val="334155"/>
                </a:solidFill>
                <a:latin typeface="Calibri"/>
              </a:defRPr>
            </a:pPr>
            <a:r>
              <a:rPr sz="1400" dirty="0"/>
              <a:t>• Simultaneous benchmark across 7 model architectures (Classical, Tree, Neural, Ensemble, Transformer).</a:t>
            </a:r>
          </a:p>
          <a:p>
            <a:pPr>
              <a:spcBef>
                <a:spcPts val="800"/>
              </a:spcBef>
              <a:defRPr sz="950">
                <a:solidFill>
                  <a:srgbClr val="334155"/>
                </a:solidFill>
                <a:latin typeface="Calibri"/>
              </a:defRPr>
            </a:pPr>
            <a:r>
              <a:rPr sz="1400" dirty="0"/>
              <a:t>• Interactive Streamlit web application running on localhost:8505 engineered by Govind Mishra</a:t>
            </a:r>
            <a:r>
              <a:rPr sz="1200" dirty="0"/>
              <a:t>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5860472"/>
            <a:ext cx="10728655" cy="659199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731520" y="5989320"/>
            <a:ext cx="63500" cy="5303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14400" y="6062472"/>
            <a:ext cx="10408615" cy="4001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 dirty="0">
                <a:solidFill>
                  <a:srgbClr val="2563EB"/>
                </a:solidFill>
                <a:latin typeface="Calibri"/>
              </a:rPr>
              <a:t>💡 EXECUTIVE SUMMARY: </a:t>
            </a:r>
            <a:r>
              <a:rPr sz="1300" dirty="0">
                <a:solidFill>
                  <a:srgbClr val="0F172A"/>
                </a:solidFill>
                <a:latin typeface="Calibri"/>
              </a:rPr>
              <a:t>Crisis Sentinel addresses the high-stakes trade-off between semantic precision and streaming throughput, delivering an automated crisis intelligence system designed for life-safety municipal operations.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92608"/>
            <a:ext cx="7315200" cy="2308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Calibri"/>
              </a:defRPr>
            </a:pPr>
            <a:r>
              <a:rPr sz="1500" dirty="0"/>
              <a:t>DATA PREPROCESSING &amp; CLEANING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30352"/>
            <a:ext cx="10728655" cy="3847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Calibri"/>
              </a:defRPr>
            </a:pPr>
            <a:r>
              <a:rPr sz="2500" dirty="0"/>
              <a:t>Systematic Text Sanitation, Noise Reduction &amp; Stratified Holdout Splitting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60120"/>
            <a:ext cx="10728655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>
                <a:solidFill>
                  <a:srgbClr val="64748B"/>
                </a:solidFill>
                <a:latin typeface="Calibri"/>
              </a:defRPr>
            </a:pPr>
            <a:r>
              <a:rPr sz="1600" dirty="0" smtClean="0"/>
              <a:t> </a:t>
            </a:r>
            <a:r>
              <a:rPr sz="1600" dirty="0"/>
              <a:t>Robust regex normalization removing Web artifacts while preserving structural crisis markers</a:t>
            </a:r>
            <a:r>
              <a:rPr dirty="0"/>
              <a:t>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61872"/>
            <a:ext cx="10728655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342900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1463040"/>
            <a:ext cx="3429000" cy="508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2025084"/>
            <a:ext cx="3108960" cy="304185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2563EB"/>
                </a:solidFill>
                <a:latin typeface="Calibri"/>
              </a:defRPr>
            </a:pPr>
            <a:r>
              <a:rPr sz="1500" dirty="0"/>
              <a:t>1. Lexical Sanitation &amp; Regex Stripping</a:t>
            </a:r>
          </a:p>
          <a:p>
            <a:pPr>
              <a:spcBef>
                <a:spcPts val="800"/>
              </a:spcBef>
            </a:pPr>
            <a:r>
              <a:rPr sz="1300" b="1" dirty="0">
                <a:solidFill>
                  <a:srgbClr val="0F172A"/>
                </a:solidFill>
                <a:latin typeface="Calibri"/>
              </a:rPr>
              <a:t>• URL Stripping: </a:t>
            </a:r>
            <a:r>
              <a:rPr sz="1300" dirty="0">
                <a:solidFill>
                  <a:srgbClr val="334155"/>
                </a:solidFill>
                <a:latin typeface="Calibri"/>
              </a:rPr>
              <a:t>Removed all 'http://' and 'https://' URLs to eliminate Web token fitting (e.g. '</a:t>
            </a:r>
            <a:r>
              <a:rPr sz="1300" dirty="0" err="1">
                <a:solidFill>
                  <a:srgbClr val="334155"/>
                </a:solidFill>
                <a:latin typeface="Calibri"/>
              </a:rPr>
              <a:t>tco</a:t>
            </a:r>
            <a:r>
              <a:rPr sz="1300" dirty="0">
                <a:solidFill>
                  <a:srgbClr val="334155"/>
                </a:solidFill>
                <a:latin typeface="Calibri"/>
              </a:rPr>
              <a:t>', 'http').</a:t>
            </a:r>
          </a:p>
          <a:p>
            <a:pPr>
              <a:spcBef>
                <a:spcPts val="800"/>
              </a:spcBef>
            </a:pPr>
            <a:r>
              <a:rPr sz="1300" b="1" dirty="0">
                <a:solidFill>
                  <a:srgbClr val="0F172A"/>
                </a:solidFill>
                <a:latin typeface="Calibri"/>
              </a:rPr>
              <a:t>• HTML Entity Stripping: </a:t>
            </a:r>
            <a:r>
              <a:rPr sz="1300" dirty="0">
                <a:solidFill>
                  <a:srgbClr val="334155"/>
                </a:solidFill>
                <a:latin typeface="Calibri"/>
              </a:rPr>
              <a:t>Cleaned raw HTML entities ('&amp;amp;', '&amp;</a:t>
            </a:r>
            <a:r>
              <a:rPr sz="1300" dirty="0" err="1">
                <a:solidFill>
                  <a:srgbClr val="334155"/>
                </a:solidFill>
                <a:latin typeface="Calibri"/>
              </a:rPr>
              <a:t>lt</a:t>
            </a:r>
            <a:r>
              <a:rPr sz="1300" dirty="0">
                <a:solidFill>
                  <a:srgbClr val="334155"/>
                </a:solidFill>
                <a:latin typeface="Calibri"/>
              </a:rPr>
              <a:t>;') and markup noise.</a:t>
            </a:r>
          </a:p>
          <a:p>
            <a:pPr>
              <a:spcBef>
                <a:spcPts val="800"/>
              </a:spcBef>
            </a:pPr>
            <a:r>
              <a:rPr sz="1300" b="1" dirty="0">
                <a:solidFill>
                  <a:srgbClr val="0F172A"/>
                </a:solidFill>
                <a:latin typeface="Calibri"/>
              </a:rPr>
              <a:t>• Punctuation &amp; Character Normalization: </a:t>
            </a:r>
            <a:r>
              <a:rPr sz="1300" dirty="0">
                <a:solidFill>
                  <a:srgbClr val="334155"/>
                </a:solidFill>
                <a:latin typeface="Calibri"/>
              </a:rPr>
              <a:t>Converted text to lowercase while retaining structural character counts before normalization.</a:t>
            </a:r>
          </a:p>
          <a:p>
            <a:pPr>
              <a:spcBef>
                <a:spcPts val="800"/>
              </a:spcBef>
            </a:pPr>
            <a:r>
              <a:rPr sz="1300" b="1" dirty="0">
                <a:solidFill>
                  <a:srgbClr val="0F172A"/>
                </a:solidFill>
                <a:latin typeface="Calibri"/>
              </a:rPr>
              <a:t>• Stop-word Filtering: </a:t>
            </a:r>
            <a:r>
              <a:rPr sz="1300" dirty="0">
                <a:solidFill>
                  <a:srgbClr val="334155"/>
                </a:solidFill>
                <a:latin typeface="Calibri"/>
              </a:rPr>
              <a:t>Filtered standard English stop-words while carefully preserving negation terms ('no', 'not', 'never').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9976" y="1463040"/>
            <a:ext cx="342900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79976" y="1463040"/>
            <a:ext cx="3429000" cy="508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1432" y="2006758"/>
            <a:ext cx="3108960" cy="304185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7C3AED"/>
                </a:solidFill>
                <a:latin typeface="Calibri"/>
              </a:defRPr>
            </a:pPr>
            <a:r>
              <a:rPr sz="1500" dirty="0"/>
              <a:t>2. Structural Metadata Extraction</a:t>
            </a:r>
          </a:p>
          <a:p>
            <a:pPr>
              <a:spcBef>
                <a:spcPts val="800"/>
              </a:spcBef>
            </a:pPr>
            <a:r>
              <a:rPr sz="1300" b="1" dirty="0">
                <a:solidFill>
                  <a:srgbClr val="0F172A"/>
                </a:solidFill>
                <a:latin typeface="Calibri"/>
              </a:rPr>
              <a:t>• Character &amp; Word Statistics: </a:t>
            </a:r>
            <a:r>
              <a:rPr sz="1300" dirty="0">
                <a:solidFill>
                  <a:srgbClr val="334155"/>
                </a:solidFill>
                <a:latin typeface="Calibri"/>
              </a:rPr>
              <a:t>Extracted char length, word count, and average word length prior to cleaning.</a:t>
            </a:r>
          </a:p>
          <a:p>
            <a:pPr>
              <a:spcBef>
                <a:spcPts val="800"/>
              </a:spcBef>
            </a:pPr>
            <a:r>
              <a:rPr sz="1300" b="1" dirty="0">
                <a:solidFill>
                  <a:srgbClr val="0F172A"/>
                </a:solidFill>
                <a:latin typeface="Calibri"/>
              </a:rPr>
              <a:t>• Digital Syntactic Markers: </a:t>
            </a:r>
            <a:r>
              <a:rPr sz="1300" dirty="0">
                <a:solidFill>
                  <a:srgbClr val="334155"/>
                </a:solidFill>
                <a:latin typeface="Calibri"/>
              </a:rPr>
              <a:t>Counted URL presence, hashtag counts (#wildfires), and @mentions.</a:t>
            </a:r>
          </a:p>
          <a:p>
            <a:pPr>
              <a:spcBef>
                <a:spcPts val="800"/>
              </a:spcBef>
            </a:pPr>
            <a:r>
              <a:rPr sz="1300" b="1" dirty="0">
                <a:solidFill>
                  <a:srgbClr val="0F172A"/>
                </a:solidFill>
                <a:latin typeface="Calibri"/>
              </a:rPr>
              <a:t>• Typographic Urgency Signals: </a:t>
            </a:r>
            <a:r>
              <a:rPr sz="1300" dirty="0">
                <a:solidFill>
                  <a:srgbClr val="334155"/>
                </a:solidFill>
                <a:latin typeface="Calibri"/>
              </a:rPr>
              <a:t>Tracked uppercase character ratio and punctuation count ('!!!') as indicators of alarm.</a:t>
            </a:r>
          </a:p>
          <a:p>
            <a:pPr>
              <a:spcBef>
                <a:spcPts val="800"/>
              </a:spcBef>
            </a:pPr>
            <a:r>
              <a:rPr sz="1300" b="1" dirty="0">
                <a:solidFill>
                  <a:srgbClr val="0F172A"/>
                </a:solidFill>
                <a:latin typeface="Calibri"/>
              </a:rPr>
              <a:t>• Sentiment Scoring: </a:t>
            </a:r>
            <a:r>
              <a:rPr sz="1300" dirty="0">
                <a:solidFill>
                  <a:srgbClr val="334155"/>
                </a:solidFill>
                <a:latin typeface="Calibri"/>
              </a:rPr>
              <a:t>Extracted VADER compound and negative polarity scores on raw conversational strings.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28432" y="1463040"/>
            <a:ext cx="342900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028432" y="1463040"/>
            <a:ext cx="3429000" cy="508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14055" y="2023360"/>
            <a:ext cx="3108960" cy="304185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59669"/>
                </a:solidFill>
                <a:latin typeface="Calibri"/>
              </a:defRPr>
            </a:pPr>
            <a:r>
              <a:rPr sz="1500" dirty="0"/>
              <a:t>3. Stratified Partitioning (80/20)</a:t>
            </a:r>
          </a:p>
          <a:p>
            <a:pPr>
              <a:spcBef>
                <a:spcPts val="800"/>
              </a:spcBef>
            </a:pPr>
            <a:r>
              <a:rPr sz="1300" b="1" dirty="0">
                <a:solidFill>
                  <a:srgbClr val="0F172A"/>
                </a:solidFill>
                <a:latin typeface="Calibri"/>
              </a:rPr>
              <a:t>• Exact Balance Preservation: </a:t>
            </a:r>
            <a:r>
              <a:rPr sz="1300" dirty="0">
                <a:solidFill>
                  <a:srgbClr val="334155"/>
                </a:solidFill>
                <a:latin typeface="Calibri"/>
              </a:rPr>
              <a:t>Guaranteed 57.0% non-disaster and 43.0% disaster distribution across splits.</a:t>
            </a:r>
          </a:p>
          <a:p>
            <a:pPr>
              <a:spcBef>
                <a:spcPts val="800"/>
              </a:spcBef>
            </a:pPr>
            <a:r>
              <a:rPr sz="1300" b="1" dirty="0">
                <a:solidFill>
                  <a:srgbClr val="0F172A"/>
                </a:solidFill>
                <a:latin typeface="Calibri"/>
              </a:rPr>
              <a:t>• Training Partition (80%): </a:t>
            </a:r>
            <a:r>
              <a:rPr sz="1300" dirty="0">
                <a:solidFill>
                  <a:srgbClr val="334155"/>
                </a:solidFill>
                <a:latin typeface="Calibri"/>
              </a:rPr>
              <a:t>6,090 samples used for 5-fold cross-validation and hyperparameter optimization.</a:t>
            </a:r>
          </a:p>
          <a:p>
            <a:pPr>
              <a:spcBef>
                <a:spcPts val="800"/>
              </a:spcBef>
            </a:pPr>
            <a:r>
              <a:rPr sz="1300" b="1" dirty="0">
                <a:solidFill>
                  <a:srgbClr val="0F172A"/>
                </a:solidFill>
                <a:latin typeface="Calibri"/>
              </a:rPr>
              <a:t>• Test Holdout (20%): </a:t>
            </a:r>
            <a:r>
              <a:rPr sz="1300" dirty="0">
                <a:solidFill>
                  <a:srgbClr val="334155"/>
                </a:solidFill>
                <a:latin typeface="Calibri"/>
              </a:rPr>
              <a:t>1,523 samples strictly quarantined for unbiased final generalization benchmark.</a:t>
            </a:r>
          </a:p>
          <a:p>
            <a:pPr>
              <a:spcBef>
                <a:spcPts val="800"/>
              </a:spcBef>
            </a:pPr>
            <a:r>
              <a:rPr sz="1300" b="1" dirty="0">
                <a:solidFill>
                  <a:srgbClr val="0F172A"/>
                </a:solidFill>
                <a:latin typeface="Calibri"/>
              </a:rPr>
              <a:t>• Leakage Prevention: </a:t>
            </a:r>
            <a:r>
              <a:rPr sz="1300" dirty="0">
                <a:solidFill>
                  <a:srgbClr val="334155"/>
                </a:solidFill>
                <a:latin typeface="Calibri"/>
              </a:rPr>
              <a:t>Fitted TF-IDF vectorizer and StandardScaler strictly on train set; transformed test set.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5989320"/>
            <a:ext cx="10728655" cy="530352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31520" y="5989320"/>
            <a:ext cx="63500" cy="53035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14400" y="6062472"/>
            <a:ext cx="10408615" cy="4001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 dirty="0">
                <a:solidFill>
                  <a:srgbClr val="059669"/>
                </a:solidFill>
                <a:latin typeface="Calibri"/>
              </a:rPr>
              <a:t>💡 PREPROCESSING RIGOR: </a:t>
            </a:r>
            <a:r>
              <a:rPr sz="1300" dirty="0">
                <a:solidFill>
                  <a:srgbClr val="0F172A"/>
                </a:solidFill>
                <a:latin typeface="Calibri"/>
              </a:rPr>
              <a:t>Extracting metadata features before text sanitation allowed the pipeline to capture typographic urgency signals without polluting lexical TF-IDF vocabulary with messy Web tokens.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92608"/>
            <a:ext cx="7315200" cy="2308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Calibri"/>
              </a:defRPr>
            </a:pPr>
            <a:r>
              <a:rPr sz="1500" dirty="0"/>
              <a:t>EXPLORATORY DATA ANALYSIS: CLASS DISTRIBUTION &amp; TARGET DYNAMICS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30352"/>
            <a:ext cx="10728655" cy="3847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Calibri"/>
              </a:defRPr>
            </a:pPr>
            <a:r>
              <a:rPr sz="2500" dirty="0"/>
              <a:t>Distribution Balance, Keyword Hazard Ratios &amp; Lexical Frequency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60120"/>
            <a:ext cx="10728655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>
                <a:solidFill>
                  <a:srgbClr val="64748B"/>
                </a:solidFill>
                <a:latin typeface="Calibri"/>
              </a:defRPr>
            </a:pPr>
            <a:r>
              <a:rPr sz="1400" dirty="0" smtClean="0"/>
              <a:t> </a:t>
            </a:r>
            <a:r>
              <a:rPr sz="1400" dirty="0"/>
              <a:t>Class balance confirmation and keyword emergency ratios across 7,613 records.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61872"/>
            <a:ext cx="10728655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290945" y="1463040"/>
            <a:ext cx="5744095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class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" y="1536192"/>
            <a:ext cx="5157216" cy="389534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20741" y="5340259"/>
            <a:ext cx="5329844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 dirty="0">
                <a:solidFill>
                  <a:srgbClr val="0F172A"/>
                </a:solidFill>
                <a:latin typeface="Calibri"/>
              </a:rPr>
              <a:t>Target Class Distribution (Disaster vs Non-Disaster)  </a:t>
            </a:r>
            <a:r>
              <a:rPr sz="1200" dirty="0">
                <a:solidFill>
                  <a:srgbClr val="64748B"/>
                </a:solidFill>
                <a:latin typeface="Calibri"/>
              </a:rPr>
              <a:t>4,342 Non-Disaster (57.0%) vs 3,271 Disaster (43.0%) — Clean Natural Balance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463040"/>
            <a:ext cx="5242255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17920" y="1463040"/>
            <a:ext cx="50800" cy="13716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0" y="1572768"/>
            <a:ext cx="4892040" cy="112851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Calibri"/>
              </a:defRPr>
            </a:pPr>
            <a:r>
              <a:rPr sz="1400" dirty="0"/>
              <a:t>Natural Class Balance (57% vs 43%)</a:t>
            </a:r>
          </a:p>
          <a:p>
            <a:pPr>
              <a:spcBef>
                <a:spcPts val="400"/>
              </a:spcBef>
              <a:defRPr sz="900">
                <a:solidFill>
                  <a:srgbClr val="334155"/>
                </a:solidFill>
                <a:latin typeface="Calibri"/>
              </a:defRPr>
            </a:pPr>
            <a:r>
              <a:rPr sz="1400" dirty="0"/>
              <a:t>Unlike heavily skewed fraud or rare disease datasets, social emergency monitoring presents a balanced class profile. No synthetic SMOTE oversampling or aggressive class weights are required, avoiding artificial distribution distortions.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2971800"/>
            <a:ext cx="5242255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217920" y="2971800"/>
            <a:ext cx="50800" cy="13716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00800" y="3081528"/>
            <a:ext cx="4892040" cy="112851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DC2626"/>
                </a:solidFill>
                <a:latin typeface="Calibri"/>
              </a:defRPr>
            </a:pPr>
            <a:r>
              <a:rPr sz="1400" dirty="0"/>
              <a:t>Keyword Disaster Ratio Variance</a:t>
            </a:r>
          </a:p>
          <a:p>
            <a:pPr>
              <a:spcBef>
                <a:spcPts val="400"/>
              </a:spcBef>
              <a:defRPr sz="900">
                <a:solidFill>
                  <a:srgbClr val="334155"/>
                </a:solidFill>
                <a:latin typeface="Calibri"/>
              </a:defRPr>
            </a:pPr>
            <a:r>
              <a:rPr sz="1400" dirty="0"/>
              <a:t>Keywords exhibit wide hazard variance: 'wildfires' (93.2%), 'derailment' (91.4%), 'debris' (88.9%) strongly signal true emergencies; conversely, 'ruin' (12.3%), 'screaming' (17.5%), and 'aftershock' (18.5%) predominantly reflect colloquial banter.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4480560"/>
            <a:ext cx="5242255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217920" y="4480560"/>
            <a:ext cx="50800" cy="13716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00800" y="4590288"/>
            <a:ext cx="4892040" cy="114390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59669"/>
                </a:solidFill>
                <a:latin typeface="Calibri"/>
              </a:defRPr>
            </a:pPr>
            <a:r>
              <a:rPr sz="1500" dirty="0"/>
              <a:t>Character Length Bimodal Spike</a:t>
            </a:r>
          </a:p>
          <a:p>
            <a:pPr>
              <a:spcBef>
                <a:spcPts val="400"/>
              </a:spcBef>
              <a:defRPr sz="900">
                <a:solidFill>
                  <a:srgbClr val="334155"/>
                </a:solidFill>
                <a:latin typeface="Calibri"/>
              </a:defRPr>
            </a:pPr>
            <a:r>
              <a:rPr sz="1400" dirty="0"/>
              <a:t>Univariate analysis reveals a pronounced bimodal length distribution with a sharp peak near 140 characters, confirming that emergency reporters maximize Twitter's historical character limit to convey critical situational updates.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5989320"/>
            <a:ext cx="10728655" cy="530352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731520" y="5989320"/>
            <a:ext cx="63500" cy="5303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14400" y="6062472"/>
            <a:ext cx="10408615" cy="4616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500" b="1" dirty="0">
                <a:solidFill>
                  <a:srgbClr val="2563EB"/>
                </a:solidFill>
                <a:latin typeface="Calibri"/>
              </a:rPr>
              <a:t>💡 EDA STATISTICAL INSIGHT: </a:t>
            </a:r>
            <a:r>
              <a:rPr sz="1500" dirty="0">
                <a:solidFill>
                  <a:srgbClr val="0F172A"/>
                </a:solidFill>
                <a:latin typeface="Calibri"/>
              </a:rPr>
              <a:t>Class balance of 57/43 eliminates severe imbalance challenges, while keyword hazard variance demonstrates that raw keywords alone are insufficient without sentence-level context.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92608"/>
            <a:ext cx="7315200" cy="2308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Calibri"/>
              </a:defRPr>
            </a:pPr>
            <a:r>
              <a:rPr sz="1500" dirty="0"/>
              <a:t>FEATURE ENGINEERING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30352"/>
            <a:ext cx="10728655" cy="3847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Calibri"/>
              </a:defRPr>
            </a:pPr>
            <a:r>
              <a:rPr sz="2500" dirty="0"/>
              <a:t>Multi-Faceted Representation: Lexical, Semantic, Sentiment &amp; Metadata Signals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60120"/>
            <a:ext cx="10728655" cy="2308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>
                <a:solidFill>
                  <a:srgbClr val="64748B"/>
                </a:solidFill>
                <a:latin typeface="Calibri"/>
              </a:defRPr>
            </a:pPr>
            <a:r>
              <a:rPr sz="1500" dirty="0" smtClean="0"/>
              <a:t>Engineering </a:t>
            </a:r>
            <a:r>
              <a:rPr sz="1500" dirty="0"/>
              <a:t>a hybrid 1,012-dimensional feature space combining sparse TF-IDF and dense embeddings.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61872"/>
            <a:ext cx="10728655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2542032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1463040"/>
            <a:ext cx="2542032" cy="508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96112" y="1627632"/>
            <a:ext cx="2221992" cy="34932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2563EB"/>
                </a:solidFill>
                <a:latin typeface="Calibri"/>
              </a:defRPr>
            </a:pPr>
            <a:r>
              <a:rPr sz="1200" dirty="0"/>
              <a:t>TIER 1: LEXICAL SPARSE</a:t>
            </a:r>
          </a:p>
          <a:p>
            <a:pPr>
              <a:spcBef>
                <a:spcPts val="200"/>
              </a:spcBef>
              <a:defRPr sz="1200" b="1">
                <a:solidFill>
                  <a:srgbClr val="0F172A"/>
                </a:solidFill>
                <a:latin typeface="Calibri"/>
              </a:defRPr>
            </a:pPr>
            <a:r>
              <a:rPr sz="1500" dirty="0"/>
              <a:t>1,000 TF-IDF Features</a:t>
            </a:r>
          </a:p>
          <a:p>
            <a:pPr>
              <a:spcBef>
                <a:spcPts val="400"/>
              </a:spcBef>
              <a:defRPr sz="900">
                <a:solidFill>
                  <a:srgbClr val="64748B"/>
                </a:solidFill>
                <a:latin typeface="Calibri"/>
              </a:defRPr>
            </a:pPr>
            <a:r>
              <a:rPr sz="1500" dirty="0"/>
              <a:t>Unigram and bigram term frequency-inverse document frequency vectors with sublinear TF scaling.</a:t>
            </a:r>
          </a:p>
          <a:p>
            <a:pPr>
              <a:spcBef>
                <a:spcPts val="600"/>
              </a:spcBef>
              <a:defRPr sz="850">
                <a:solidFill>
                  <a:srgbClr val="334155"/>
                </a:solidFill>
                <a:latin typeface="Calibri"/>
              </a:defRPr>
            </a:pPr>
            <a:r>
              <a:rPr sz="1500" dirty="0"/>
              <a:t>• Captures domain vocabulary ('evacuation', 'debris', 'wildfire').</a:t>
            </a:r>
          </a:p>
          <a:p>
            <a:pPr>
              <a:spcBef>
                <a:spcPts val="600"/>
              </a:spcBef>
              <a:defRPr sz="850">
                <a:solidFill>
                  <a:srgbClr val="334155"/>
                </a:solidFill>
                <a:latin typeface="Calibri"/>
              </a:defRPr>
            </a:pPr>
            <a:r>
              <a:rPr sz="1500" dirty="0"/>
              <a:t>• Bigrams capture urgent qualifiers ('severe flooding', 'bridge collapse').</a:t>
            </a:r>
          </a:p>
          <a:p>
            <a:pPr>
              <a:spcBef>
                <a:spcPts val="600"/>
              </a:spcBef>
              <a:defRPr sz="850">
                <a:solidFill>
                  <a:srgbClr val="334155"/>
                </a:solidFill>
                <a:latin typeface="Calibri"/>
              </a:defRPr>
            </a:pPr>
            <a:r>
              <a:rPr sz="1500" dirty="0"/>
              <a:t>• Provides high precision on definitive crisis terms.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56432" y="1463040"/>
            <a:ext cx="2542032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456432" y="1463040"/>
            <a:ext cx="2542032" cy="508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21024" y="1627632"/>
            <a:ext cx="2221992" cy="32624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7C3AED"/>
                </a:solidFill>
                <a:latin typeface="Calibri"/>
              </a:defRPr>
            </a:pPr>
            <a:r>
              <a:rPr sz="1200" dirty="0" smtClean="0"/>
              <a:t>TIER 2: SEMANTIC DENSE</a:t>
            </a:r>
          </a:p>
          <a:p>
            <a:pPr>
              <a:spcBef>
                <a:spcPts val="200"/>
              </a:spcBef>
              <a:defRPr sz="1200" b="1">
                <a:solidFill>
                  <a:srgbClr val="0F172A"/>
                </a:solidFill>
                <a:latin typeface="Calibri"/>
              </a:defRPr>
            </a:pPr>
            <a:r>
              <a:rPr sz="1500" dirty="0" smtClean="0"/>
              <a:t>Word2Vec Embeddings</a:t>
            </a:r>
          </a:p>
          <a:p>
            <a:pPr>
              <a:spcBef>
                <a:spcPts val="400"/>
              </a:spcBef>
              <a:defRPr sz="900">
                <a:solidFill>
                  <a:srgbClr val="64748B"/>
                </a:solidFill>
                <a:latin typeface="Calibri"/>
              </a:defRPr>
            </a:pPr>
            <a:r>
              <a:rPr sz="1500" dirty="0" smtClean="0"/>
              <a:t>100-dimensional </a:t>
            </a:r>
            <a:r>
              <a:rPr sz="1500" dirty="0"/>
              <a:t>Gensim Word2Vec continuous vector averages.</a:t>
            </a:r>
          </a:p>
          <a:p>
            <a:pPr>
              <a:spcBef>
                <a:spcPts val="600"/>
              </a:spcBef>
              <a:defRPr sz="850">
                <a:solidFill>
                  <a:srgbClr val="334155"/>
                </a:solidFill>
                <a:latin typeface="Calibri"/>
              </a:defRPr>
            </a:pPr>
            <a:r>
              <a:rPr sz="1500" dirty="0"/>
              <a:t>• Captures conceptual semantic neighborhoods beyond exact keywords.</a:t>
            </a:r>
          </a:p>
          <a:p>
            <a:pPr>
              <a:spcBef>
                <a:spcPts val="600"/>
              </a:spcBef>
              <a:defRPr sz="850">
                <a:solidFill>
                  <a:srgbClr val="334155"/>
                </a:solidFill>
                <a:latin typeface="Calibri"/>
              </a:defRPr>
            </a:pPr>
            <a:r>
              <a:rPr sz="1500" dirty="0"/>
              <a:t>• Computes embedding vector norm and vector magnitude.</a:t>
            </a:r>
          </a:p>
          <a:p>
            <a:pPr>
              <a:spcBef>
                <a:spcPts val="600"/>
              </a:spcBef>
              <a:defRPr sz="850">
                <a:solidFill>
                  <a:srgbClr val="334155"/>
                </a:solidFill>
                <a:latin typeface="Calibri"/>
              </a:defRPr>
            </a:pPr>
            <a:r>
              <a:rPr sz="1500" dirty="0"/>
              <a:t>• Enables generalization to unseen disaster synonyms</a:t>
            </a:r>
            <a:r>
              <a:rPr dirty="0"/>
              <a:t>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81344" y="1463040"/>
            <a:ext cx="2542032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181344" y="1463040"/>
            <a:ext cx="2542032" cy="508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45936" y="1627632"/>
            <a:ext cx="2221992" cy="34932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DC2626"/>
                </a:solidFill>
                <a:latin typeface="Calibri"/>
              </a:defRPr>
            </a:pPr>
            <a:r>
              <a:rPr sz="1200" dirty="0"/>
              <a:t>TIER 3: SENTIMENT SIGNALS</a:t>
            </a:r>
          </a:p>
          <a:p>
            <a:pPr>
              <a:spcBef>
                <a:spcPts val="200"/>
              </a:spcBef>
              <a:defRPr sz="1200" b="1">
                <a:solidFill>
                  <a:srgbClr val="0F172A"/>
                </a:solidFill>
                <a:latin typeface="Calibri"/>
              </a:defRPr>
            </a:pPr>
            <a:r>
              <a:rPr sz="1500" dirty="0"/>
              <a:t>VADER Lexicon Polarity</a:t>
            </a:r>
          </a:p>
          <a:p>
            <a:pPr>
              <a:spcBef>
                <a:spcPts val="400"/>
              </a:spcBef>
              <a:defRPr sz="900">
                <a:solidFill>
                  <a:srgbClr val="64748B"/>
                </a:solidFill>
                <a:latin typeface="Calibri"/>
              </a:defRPr>
            </a:pPr>
            <a:r>
              <a:rPr sz="1500" dirty="0"/>
              <a:t>Rule-based sentiment intensity analyzer tailored for social media text.</a:t>
            </a:r>
          </a:p>
          <a:p>
            <a:pPr>
              <a:spcBef>
                <a:spcPts val="600"/>
              </a:spcBef>
              <a:defRPr sz="850">
                <a:solidFill>
                  <a:srgbClr val="334155"/>
                </a:solidFill>
                <a:latin typeface="Calibri"/>
              </a:defRPr>
            </a:pPr>
            <a:r>
              <a:rPr sz="1500" dirty="0"/>
              <a:t>• Compound score (-1.0 to +1.0) captures overall panic tone.</a:t>
            </a:r>
          </a:p>
          <a:p>
            <a:pPr>
              <a:spcBef>
                <a:spcPts val="600"/>
              </a:spcBef>
              <a:defRPr sz="850">
                <a:solidFill>
                  <a:srgbClr val="334155"/>
                </a:solidFill>
                <a:latin typeface="Calibri"/>
              </a:defRPr>
            </a:pPr>
            <a:r>
              <a:rPr sz="1500" dirty="0"/>
              <a:t>• Negative polarity score captures crisis distress and damage intensity.</a:t>
            </a:r>
          </a:p>
          <a:p>
            <a:pPr>
              <a:spcBef>
                <a:spcPts val="600"/>
              </a:spcBef>
              <a:defRPr sz="850">
                <a:solidFill>
                  <a:srgbClr val="334155"/>
                </a:solidFill>
                <a:latin typeface="Calibri"/>
              </a:defRPr>
            </a:pPr>
            <a:r>
              <a:rPr sz="1500" dirty="0"/>
              <a:t>• Neutral score identifies factual news wire broadcast style.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06256" y="1463040"/>
            <a:ext cx="2542032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906256" y="1463040"/>
            <a:ext cx="2542032" cy="508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142019" y="1648460"/>
            <a:ext cx="2221992" cy="346248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059669"/>
                </a:solidFill>
                <a:latin typeface="Calibri"/>
              </a:defRPr>
            </a:pPr>
            <a:r>
              <a:rPr sz="1200" dirty="0"/>
              <a:t>TIER 4: STRUCTURAL METADATA</a:t>
            </a:r>
          </a:p>
          <a:p>
            <a:pPr>
              <a:spcBef>
                <a:spcPts val="200"/>
              </a:spcBef>
              <a:defRPr sz="1200" b="1">
                <a:solidFill>
                  <a:srgbClr val="0F172A"/>
                </a:solidFill>
                <a:latin typeface="Calibri"/>
              </a:defRPr>
            </a:pPr>
            <a:r>
              <a:rPr sz="1500" dirty="0" smtClean="0"/>
              <a:t>Syntactic Metadata (Scaled)</a:t>
            </a:r>
            <a:endParaRPr sz="1500" dirty="0"/>
          </a:p>
          <a:p>
            <a:pPr>
              <a:spcBef>
                <a:spcPts val="400"/>
              </a:spcBef>
              <a:defRPr sz="900">
                <a:solidFill>
                  <a:srgbClr val="64748B"/>
                </a:solidFill>
                <a:latin typeface="Calibri"/>
              </a:defRPr>
            </a:pPr>
            <a:r>
              <a:rPr sz="1500" dirty="0"/>
              <a:t>9 standardized structural metadata variables scaled via StandardScaler.</a:t>
            </a:r>
          </a:p>
          <a:p>
            <a:pPr>
              <a:spcBef>
                <a:spcPts val="600"/>
              </a:spcBef>
              <a:defRPr sz="850">
                <a:solidFill>
                  <a:srgbClr val="334155"/>
                </a:solidFill>
                <a:latin typeface="Calibri"/>
              </a:defRPr>
            </a:pPr>
            <a:r>
              <a:rPr sz="1500" dirty="0"/>
              <a:t>• Character length, word count, and average word length.</a:t>
            </a:r>
          </a:p>
          <a:p>
            <a:pPr>
              <a:spcBef>
                <a:spcPts val="600"/>
              </a:spcBef>
              <a:defRPr sz="850">
                <a:solidFill>
                  <a:srgbClr val="334155"/>
                </a:solidFill>
                <a:latin typeface="Calibri"/>
              </a:defRPr>
            </a:pPr>
            <a:r>
              <a:rPr sz="1500" dirty="0"/>
              <a:t>• URL density, hashtag frequency, and @mention ratio.</a:t>
            </a:r>
          </a:p>
          <a:p>
            <a:pPr>
              <a:spcBef>
                <a:spcPts val="600"/>
              </a:spcBef>
              <a:defRPr sz="850">
                <a:solidFill>
                  <a:srgbClr val="334155"/>
                </a:solidFill>
                <a:latin typeface="Calibri"/>
              </a:defRPr>
            </a:pPr>
            <a:r>
              <a:rPr sz="1500" dirty="0"/>
              <a:t>• Keyword target-encoded risk score and informal slang count.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5989320"/>
            <a:ext cx="10728655" cy="530352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731520" y="5989320"/>
            <a:ext cx="63500" cy="5303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14400" y="6062472"/>
            <a:ext cx="10408615" cy="4616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500" b="1" dirty="0">
                <a:solidFill>
                  <a:srgbClr val="7C3AED"/>
                </a:solidFill>
                <a:latin typeface="Calibri"/>
              </a:rPr>
              <a:t>💡 FEATURE ENGINEERING ADVANTAGE: </a:t>
            </a:r>
            <a:r>
              <a:rPr sz="1500" dirty="0">
                <a:solidFill>
                  <a:srgbClr val="0F172A"/>
                </a:solidFill>
                <a:latin typeface="Calibri"/>
              </a:rPr>
              <a:t>Combining high-dimensional lexical sparsity (TF-IDF) with low-dimensional continuous signals (metadata + VADER) arms classifiers with both specific vocabulary coordinates and general structural context.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92608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Calibri"/>
              </a:defRPr>
            </a:pPr>
            <a:r>
              <a:t>BIVARIATE FEATURE ANALYSIS &amp; TARGET RELATIONSHIPS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30352"/>
            <a:ext cx="10728655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Calibri"/>
              </a:defRPr>
            </a:pPr>
            <a:r>
              <a:t>Empirical Feature Differentiation: Emergency Markers vs Casual Banter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60120"/>
            <a:ext cx="10728655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>
                <a:solidFill>
                  <a:srgbClr val="64748B"/>
                </a:solidFill>
                <a:latin typeface="Calibri"/>
              </a:defRPr>
            </a:pPr>
            <a:r>
              <a:t>Notebook Sections 7-8: Statistical divergence between disaster and non-disaster classes across structural metadata.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61872"/>
            <a:ext cx="10728655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548640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bivariate_feature_target_analy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" y="1536192"/>
            <a:ext cx="5340096" cy="389534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68680" y="5504688"/>
            <a:ext cx="5212080" cy="3017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 b="1">
                <a:solidFill>
                  <a:srgbClr val="0F172A"/>
                </a:solidFill>
                <a:latin typeface="Calibri"/>
              </a:rPr>
              <a:t>Bivariate Distributions Across Engineered Metadata Features  </a:t>
            </a:r>
            <a:r>
              <a:rPr sz="850">
                <a:solidFill>
                  <a:srgbClr val="64748B"/>
                </a:solidFill>
                <a:latin typeface="Calibri"/>
              </a:rPr>
              <a:t>Disaster (Red) vs Non-Disaster (Blue) across URL counts, mentions, lengths, and sentiment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463040"/>
            <a:ext cx="5059375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400800" y="1463040"/>
            <a:ext cx="50800" cy="13716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83680" y="1554480"/>
            <a:ext cx="470916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DC2626"/>
                </a:solidFill>
                <a:latin typeface="Calibri"/>
              </a:defRPr>
            </a:pPr>
            <a:r>
              <a:t>URL Density as Emergency Marker (+51%)  [0.77 vs 0.51]</a:t>
            </a:r>
          </a:p>
          <a:p>
            <a:pPr>
              <a:spcBef>
                <a:spcPts val="400"/>
              </a:spcBef>
              <a:defRPr sz="850">
                <a:solidFill>
                  <a:srgbClr val="334155"/>
                </a:solidFill>
                <a:latin typeface="Calibri"/>
              </a:defRPr>
            </a:pPr>
            <a:r>
              <a:t>Disaster tweets exhibit a 51% higher mean URL count. Eyewitnesses and news outlets cite emergency broadcast links, police warnings, and relief donation URLs. A tweet containing a link has an elevated prior probability of being an authentic disaster report.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2971800"/>
            <a:ext cx="5059375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400800" y="2971800"/>
            <a:ext cx="50800" cy="13716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83680" y="3063240"/>
            <a:ext cx="470916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2563EB"/>
                </a:solidFill>
                <a:latin typeface="Calibri"/>
              </a:defRPr>
            </a:pPr>
            <a:r>
              <a:t>Personal Mentions vs Public Broadcasts (-55%)  [0.42 vs 0.27]</a:t>
            </a:r>
          </a:p>
          <a:p>
            <a:pPr>
              <a:spcBef>
                <a:spcPts val="400"/>
              </a:spcBef>
              <a:defRPr sz="850">
                <a:solidFill>
                  <a:srgbClr val="334155"/>
                </a:solidFill>
                <a:latin typeface="Calibri"/>
              </a:defRPr>
            </a:pPr>
            <a:r>
              <a:t>Non-disaster tweets feature 55% more @mentions. Personal conversational dialogue ('@friend check this out haha') is informal and relational, whereas authentic disaster tweets are broadcast outbound to alert the public.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4480560"/>
            <a:ext cx="5059375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400800" y="4480560"/>
            <a:ext cx="50800" cy="13716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83680" y="4572000"/>
            <a:ext cx="470916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059669"/>
                </a:solidFill>
                <a:latin typeface="Calibri"/>
              </a:defRPr>
            </a:pPr>
            <a:r>
              <a:t>Systematic Length Shift (+17 chars)  [115 vs 98 chars]</a:t>
            </a:r>
          </a:p>
          <a:p>
            <a:pPr>
              <a:spcBef>
                <a:spcPts val="400"/>
              </a:spcBef>
              <a:defRPr sz="850">
                <a:solidFill>
                  <a:srgbClr val="334155"/>
                </a:solidFill>
                <a:latin typeface="Calibri"/>
              </a:defRPr>
            </a:pPr>
            <a:r>
              <a:t>Disaster tweets are systematically longer (median 115 characters vs 98 characters for non-disasters). Emergency communications require situational clarity—incorporating locations, hazard descriptions, and safety advisories.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5989320"/>
            <a:ext cx="10728655" cy="530352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731520" y="5989320"/>
            <a:ext cx="63500" cy="5303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14400" y="6062472"/>
            <a:ext cx="10408615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 b="1">
                <a:solidFill>
                  <a:srgbClr val="2563EB"/>
                </a:solidFill>
                <a:latin typeface="Calibri"/>
              </a:rPr>
              <a:t>💡 BIVARIATE STATISTICAL TAKEAWAY: </a:t>
            </a:r>
            <a:r>
              <a:rPr sz="900">
                <a:solidFill>
                  <a:srgbClr val="0F172A"/>
                </a:solidFill>
                <a:latin typeface="Calibri"/>
              </a:rPr>
              <a:t>No single feature provides a clean linearly separable boundary on its own. High classification accuracy requires combining lexical n-gram probabilities with continuous structural text metadata.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92608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Calibri"/>
              </a:defRPr>
            </a:pPr>
            <a:r>
              <a:t>FEATURE CORRELATION HEATMAP &amp; MODEL SELECTION GUIDANCE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30352"/>
            <a:ext cx="10728655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Calibri"/>
              </a:defRPr>
            </a:pPr>
            <a:r>
              <a:t>Pairwise Feature Correlation Matrix &amp; Multicollinearity Inspection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60120"/>
            <a:ext cx="10728655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>
                <a:solidFill>
                  <a:srgbClr val="64748B"/>
                </a:solidFill>
                <a:latin typeface="Calibri"/>
              </a:defRPr>
            </a:pPr>
            <a:r>
              <a:t>Notebook Section 9: Statistical correlation matrix identifying primary linear and non-linear predictors of disaster events.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61872"/>
            <a:ext cx="10728655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548640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feature_correlat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" y="1536192"/>
            <a:ext cx="5340096" cy="389534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68680" y="5504688"/>
            <a:ext cx="5212080" cy="3017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 b="1">
                <a:solidFill>
                  <a:srgbClr val="0F172A"/>
                </a:solidFill>
                <a:latin typeface="Calibri"/>
              </a:rPr>
              <a:t>Pairwise Feature Correlation Heatmap (Continuous Variables)  </a:t>
            </a:r>
            <a:r>
              <a:rPr sz="850">
                <a:solidFill>
                  <a:srgbClr val="64748B"/>
                </a:solidFill>
                <a:latin typeface="Calibri"/>
              </a:rPr>
              <a:t>Pearson r values across metadata, VADER scores, and binary target class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463040"/>
            <a:ext cx="5059375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400800" y="1463040"/>
            <a:ext cx="50800" cy="13716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83680" y="1554480"/>
            <a:ext cx="470916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DC2626"/>
                </a:solidFill>
                <a:latin typeface="Calibri"/>
              </a:defRPr>
            </a:pPr>
            <a:r>
              <a:t>Strongest Direct Predictors of Disaster</a:t>
            </a:r>
          </a:p>
          <a:p>
            <a:pPr>
              <a:spcBef>
                <a:spcPts val="300"/>
              </a:spcBef>
              <a:defRPr sz="850">
                <a:solidFill>
                  <a:srgbClr val="334155"/>
                </a:solidFill>
                <a:latin typeface="Calibri"/>
              </a:defRPr>
            </a:pPr>
            <a:r>
              <a:t>• URL Count (r = +0.25): Strongest single linear predictor of disaster classification.</a:t>
            </a:r>
          </a:p>
          <a:p>
            <a:pPr>
              <a:spcBef>
                <a:spcPts val="300"/>
              </a:spcBef>
              <a:defRPr sz="850">
                <a:solidFill>
                  <a:srgbClr val="334155"/>
                </a:solidFill>
                <a:latin typeface="Calibri"/>
              </a:defRPr>
            </a:pPr>
            <a:r>
              <a:t>• Character Length (r = +0.19): Systematic indicator of informational broadcast structure.</a:t>
            </a:r>
          </a:p>
          <a:p>
            <a:pPr>
              <a:spcBef>
                <a:spcPts val="300"/>
              </a:spcBef>
              <a:defRPr sz="850">
                <a:solidFill>
                  <a:srgbClr val="334155"/>
                </a:solidFill>
                <a:latin typeface="Calibri"/>
              </a:defRPr>
            </a:pPr>
            <a:r>
              <a:t>• Keyword Risk Score: Target-encoded empirical risk significantly correlates with ground truth.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2971800"/>
            <a:ext cx="5059375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400800" y="2971800"/>
            <a:ext cx="50800" cy="13716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83680" y="3063240"/>
            <a:ext cx="470916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2563EB"/>
                </a:solidFill>
                <a:latin typeface="Calibri"/>
              </a:defRPr>
            </a:pPr>
            <a:r>
              <a:t>Strongest Inverse Predictors (Non-Disaster)</a:t>
            </a:r>
          </a:p>
          <a:p>
            <a:pPr>
              <a:spcBef>
                <a:spcPts val="300"/>
              </a:spcBef>
              <a:defRPr sz="850">
                <a:solidFill>
                  <a:srgbClr val="334155"/>
                </a:solidFill>
                <a:latin typeface="Calibri"/>
              </a:defRPr>
            </a:pPr>
            <a:r>
              <a:t>• @Mention Count (r = -0.11): Signals personal dialogue rather than public alerting.</a:t>
            </a:r>
          </a:p>
          <a:p>
            <a:pPr>
              <a:spcBef>
                <a:spcPts val="300"/>
              </a:spcBef>
              <a:defRPr sz="850">
                <a:solidFill>
                  <a:srgbClr val="334155"/>
                </a:solidFill>
                <a:latin typeface="Calibri"/>
              </a:defRPr>
            </a:pPr>
            <a:r>
              <a:t>• Positive Sentiment (r = -0.13): Content with high positive polarity is rarely a true disaster.</a:t>
            </a:r>
          </a:p>
          <a:p>
            <a:pPr>
              <a:spcBef>
                <a:spcPts val="300"/>
              </a:spcBef>
              <a:defRPr sz="850">
                <a:solidFill>
                  <a:srgbClr val="334155"/>
                </a:solidFill>
                <a:latin typeface="Calibri"/>
              </a:defRPr>
            </a:pPr>
            <a:r>
              <a:t>• Informal Slang Count: High slang density strongly predicts metaphorical banter.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4480560"/>
            <a:ext cx="5059375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400800" y="4480560"/>
            <a:ext cx="50800" cy="13716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83680" y="4572000"/>
            <a:ext cx="470916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7C3AED"/>
                </a:solidFill>
                <a:latin typeface="Calibri"/>
              </a:defRPr>
            </a:pPr>
            <a:r>
              <a:t>Architectural Model Selection Guidance</a:t>
            </a:r>
          </a:p>
          <a:p>
            <a:pPr>
              <a:spcBef>
                <a:spcPts val="300"/>
              </a:spcBef>
              <a:defRPr sz="850">
                <a:solidFill>
                  <a:srgbClr val="334155"/>
                </a:solidFill>
                <a:latin typeface="Calibri"/>
              </a:defRPr>
            </a:pPr>
            <a:r>
              <a:t>• Absence of severe multicollinearity (all r &lt; 0.85) ensures stable gradient descent.</a:t>
            </a:r>
          </a:p>
          <a:p>
            <a:pPr>
              <a:spcBef>
                <a:spcPts val="300"/>
              </a:spcBef>
              <a:defRPr sz="850">
                <a:solidFill>
                  <a:srgbClr val="334155"/>
                </a:solidFill>
                <a:latin typeface="Calibri"/>
              </a:defRPr>
            </a:pPr>
            <a:r>
              <a:t>• Non-linear metadata interactions require tree structures (HistGradientBoosting, Random Forest).</a:t>
            </a:r>
          </a:p>
          <a:p>
            <a:pPr>
              <a:spcBef>
                <a:spcPts val="300"/>
              </a:spcBef>
              <a:defRPr sz="850">
                <a:solidFill>
                  <a:srgbClr val="334155"/>
                </a:solidFill>
                <a:latin typeface="Calibri"/>
              </a:defRPr>
            </a:pPr>
            <a:r>
              <a:t>• High-dimensional sparse text vectors require regularized linear boundaries (Logistic Regression).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5989320"/>
            <a:ext cx="10728655" cy="530352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731520" y="5989320"/>
            <a:ext cx="63500" cy="5303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14400" y="6062472"/>
            <a:ext cx="10408615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 b="1">
                <a:solidFill>
                  <a:srgbClr val="7C3AED"/>
                </a:solidFill>
                <a:latin typeface="Calibri"/>
              </a:rPr>
              <a:t>💡 MODEL SELECTION IMPLICATION: </a:t>
            </a:r>
            <a:r>
              <a:rPr sz="900">
                <a:solidFill>
                  <a:srgbClr val="0F172A"/>
                </a:solidFill>
                <a:latin typeface="Calibri"/>
              </a:rPr>
              <a:t>Correlation patterns confirm that no single model family can dominate across all features: linear models capture text unigrams, while tree ensembles exploit continuous metadata relationships.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92608"/>
            <a:ext cx="7315200" cy="2308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Calibri"/>
              </a:defRPr>
            </a:pPr>
            <a:r>
              <a:rPr sz="1500" dirty="0"/>
              <a:t>SOTA DEEP LEARNING BENCHMARK: HUGGING FACE DISTILBERT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30352"/>
            <a:ext cx="10728655" cy="3847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Calibri"/>
              </a:defRPr>
            </a:pPr>
            <a:r>
              <a:rPr sz="2500" dirty="0"/>
              <a:t>Bidirectional Transformer Multi-Head Self-Attention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60120"/>
            <a:ext cx="10728655" cy="2308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>
                <a:solidFill>
                  <a:srgbClr val="64748B"/>
                </a:solidFill>
                <a:latin typeface="Calibri"/>
              </a:defRPr>
            </a:pPr>
            <a:r>
              <a:rPr sz="1500" dirty="0" smtClean="0"/>
              <a:t> </a:t>
            </a:r>
            <a:r>
              <a:rPr sz="1500" dirty="0"/>
              <a:t>Fine-tuning a 66-million parameter Transformer model on Twitter disaster classification.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61872"/>
            <a:ext cx="10728655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415636" y="1463040"/>
            <a:ext cx="5802284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distilbert_roc_pr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854673"/>
            <a:ext cx="5212080" cy="357686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68680" y="5504688"/>
            <a:ext cx="5212080" cy="3017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 b="1" dirty="0">
                <a:solidFill>
                  <a:srgbClr val="0F172A"/>
                </a:solidFill>
                <a:latin typeface="Calibri"/>
              </a:rPr>
              <a:t>DistilBERT ROC Curve &amp; Precision-Recall Dynamics  </a:t>
            </a:r>
            <a:r>
              <a:rPr sz="850" dirty="0">
                <a:solidFill>
                  <a:srgbClr val="64748B"/>
                </a:solidFill>
                <a:latin typeface="Calibri"/>
              </a:rPr>
              <a:t>ROC-AUC = 0.9238 | Average Precision = 0.9084 | Stratified Test Holdout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463040"/>
            <a:ext cx="5059375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400800" y="1463040"/>
            <a:ext cx="50800" cy="13716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83680" y="1554480"/>
            <a:ext cx="4709160" cy="120545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7C3AED"/>
                </a:solidFill>
                <a:latin typeface="Calibri"/>
              </a:defRPr>
            </a:pPr>
            <a:r>
              <a:rPr sz="1500" dirty="0"/>
              <a:t>Why DistilBERT Won (Bidirectional Self-Attention)</a:t>
            </a:r>
          </a:p>
          <a:p>
            <a:pPr>
              <a:spcBef>
                <a:spcPts val="400"/>
              </a:spcBef>
              <a:defRPr sz="850">
                <a:solidFill>
                  <a:srgbClr val="334155"/>
                </a:solidFill>
                <a:latin typeface="Calibri"/>
              </a:defRPr>
            </a:pPr>
            <a:r>
              <a:rPr sz="1500" dirty="0"/>
              <a:t>Unlike static Word2Vec or TF-IDF, Transformer self-attention computes dynamic, contextualized token representations: A word like 'fire' in 'our house is on fire' receives an alert embedding entirely distinct from 'that rap track is fire'.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2971800"/>
            <a:ext cx="5059375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400800" y="2971800"/>
            <a:ext cx="50800" cy="13716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83680" y="3063240"/>
            <a:ext cx="4709160" cy="97462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2563EB"/>
                </a:solidFill>
                <a:latin typeface="Calibri"/>
              </a:defRPr>
            </a:pPr>
            <a:r>
              <a:rPr sz="1500" dirty="0"/>
              <a:t>Knowledge Distillation Efficiency</a:t>
            </a:r>
          </a:p>
          <a:p>
            <a:pPr>
              <a:spcBef>
                <a:spcPts val="400"/>
              </a:spcBef>
              <a:defRPr sz="850">
                <a:solidFill>
                  <a:srgbClr val="334155"/>
                </a:solidFill>
                <a:latin typeface="Calibri"/>
              </a:defRPr>
            </a:pPr>
            <a:r>
              <a:rPr sz="1500" dirty="0"/>
              <a:t>Retains 97% of BERT-base's full language understanding while operating with 40% fewer parameters (66M vs 110M) and running 60% faster on standard hardware.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4480560"/>
            <a:ext cx="5059375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400800" y="4480560"/>
            <a:ext cx="50800" cy="13716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83680" y="4572000"/>
            <a:ext cx="4709160" cy="97462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059669"/>
                </a:solidFill>
                <a:latin typeface="Calibri"/>
              </a:defRPr>
            </a:pPr>
            <a:r>
              <a:rPr sz="1500" dirty="0"/>
              <a:t>Championship Generalization Metrics</a:t>
            </a:r>
          </a:p>
          <a:p>
            <a:pPr>
              <a:spcBef>
                <a:spcPts val="400"/>
              </a:spcBef>
              <a:defRPr sz="850">
                <a:solidFill>
                  <a:srgbClr val="334155"/>
                </a:solidFill>
                <a:latin typeface="Calibri"/>
              </a:defRPr>
            </a:pPr>
            <a:r>
              <a:rPr sz="1500" dirty="0"/>
              <a:t>Test Accuracy: 87.79% 🥇 | Test F1-Score: 0.8547 🥇 | ROC-AUC: 0.9238 🥇 | Precision: 87.38% | Recall: 83.64% (+5.7% accuracy lift over the nearest ensemble baseline</a:t>
            </a:r>
            <a:r>
              <a:rPr dirty="0"/>
              <a:t>).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5989320"/>
            <a:ext cx="10728655" cy="530352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731520" y="5989320"/>
            <a:ext cx="63500" cy="5303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14400" y="6062472"/>
            <a:ext cx="10408615" cy="4616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500" b="1" dirty="0">
                <a:solidFill>
                  <a:srgbClr val="7C3AED"/>
                </a:solidFill>
                <a:latin typeface="Calibri"/>
              </a:rPr>
              <a:t>💡 TRANSFORMER BREAKTHROUGH: </a:t>
            </a:r>
            <a:r>
              <a:rPr sz="1500" dirty="0">
                <a:solidFill>
                  <a:srgbClr val="0F172A"/>
                </a:solidFill>
                <a:latin typeface="Calibri"/>
              </a:rPr>
              <a:t>DistilBERT breaks through the classical TF-IDF ceiling by modeling syntax, word order, and subtle linguistic negation, achieving state-of-the-art 87.79% accuracy and 0.8547 F1.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92608"/>
            <a:ext cx="7315200" cy="2308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Calibri"/>
              </a:defRPr>
            </a:pPr>
            <a:r>
              <a:rPr sz="1500" dirty="0"/>
              <a:t>DEPLOYED PRODUCTION APPLICATION: REAL-TIME INCIDENT CLASSIFIER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30352"/>
            <a:ext cx="10728655" cy="3847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Calibri"/>
              </a:defRPr>
            </a:pPr>
            <a:r>
              <a:rPr sz="2500" dirty="0"/>
              <a:t>Interactive Web Application </a:t>
            </a:r>
            <a:r>
              <a:rPr sz="2500" dirty="0" smtClean="0"/>
              <a:t>: </a:t>
            </a:r>
            <a:r>
              <a:rPr sz="2500" dirty="0"/>
              <a:t>Real-Time Disaster Prediction Console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60120"/>
            <a:ext cx="10728655" cy="2308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>
                <a:solidFill>
                  <a:srgbClr val="64748B"/>
                </a:solidFill>
                <a:latin typeface="Calibri"/>
              </a:defRPr>
            </a:pPr>
            <a:r>
              <a:rPr sz="1500" dirty="0" smtClean="0"/>
              <a:t>Streamlit </a:t>
            </a:r>
            <a:r>
              <a:rPr sz="1500" dirty="0"/>
              <a:t>production deployment engineered by GOVIND MISHRA running live on </a:t>
            </a:r>
            <a:r>
              <a:rPr lang="en-US" sz="1500" dirty="0">
                <a:hlinkClick r:id="rId2"/>
              </a:rPr>
              <a:t>https://project7-5rnntdqjfqfuawadsinped.streamlit.app/</a:t>
            </a:r>
            <a:r>
              <a:rPr dirty="0" smtClean="0">
                <a:hlinkClick r:id="rId2"/>
              </a:rPr>
              <a:t>.</a:t>
            </a:r>
            <a:endParaRPr dirty="0"/>
          </a:p>
        </p:txBody>
      </p:sp>
      <p:sp>
        <p:nvSpPr>
          <p:cNvPr id="6" name="Rectangle 5"/>
          <p:cNvSpPr/>
          <p:nvPr/>
        </p:nvSpPr>
        <p:spPr>
          <a:xfrm>
            <a:off x="731520" y="1261872"/>
            <a:ext cx="10728655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209550" y="1463040"/>
            <a:ext cx="628269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app_screenshot_wildfi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878" y="1661304"/>
            <a:ext cx="5440680" cy="377480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68680" y="5504688"/>
            <a:ext cx="5486400" cy="3017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 b="1">
                <a:solidFill>
                  <a:srgbClr val="0F172A"/>
                </a:solidFill>
                <a:latin typeface="Calibri"/>
              </a:rPr>
              <a:t>Live Application Console: Real Crisis Emergency Alert Output  </a:t>
            </a:r>
            <a:r>
              <a:rPr sz="850">
                <a:solidFill>
                  <a:srgbClr val="64748B"/>
                </a:solidFill>
                <a:latin typeface="Calibri"/>
              </a:rPr>
              <a:t>Screen capture from localhost:8505 showing hazard card, risk confidence gauge, and linguistic diagnostics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75120" y="1463040"/>
            <a:ext cx="4785055" cy="1024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675120" y="1463040"/>
            <a:ext cx="50800" cy="10241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858000" y="1536192"/>
            <a:ext cx="4434840" cy="85664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Calibri"/>
              </a:defRPr>
            </a:pPr>
            <a:r>
              <a:rPr sz="1500" dirty="0"/>
              <a:t>1. Ingestion &amp; Input Sanitation</a:t>
            </a:r>
          </a:p>
          <a:p>
            <a:pPr>
              <a:spcBef>
                <a:spcPts val="200"/>
              </a:spcBef>
              <a:defRPr sz="850">
                <a:solidFill>
                  <a:srgbClr val="334155"/>
                </a:solidFill>
                <a:latin typeface="Calibri"/>
              </a:defRPr>
            </a:pPr>
            <a:r>
              <a:rPr sz="1300" dirty="0"/>
              <a:t>User inputs raw text via the interactive console or one-click presets. The application performs real-time regex normalization, hashtag extraction (#wildfires), and structural feature counting.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675120" y="2578608"/>
            <a:ext cx="4785055" cy="1024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675120" y="2578608"/>
            <a:ext cx="50800" cy="102412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857999" y="2651760"/>
            <a:ext cx="4602175" cy="85664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7C3AED"/>
                </a:solidFill>
                <a:latin typeface="Calibri"/>
              </a:defRPr>
            </a:pPr>
            <a:r>
              <a:rPr sz="1500" dirty="0"/>
              <a:t>2. Silent Optimal Inference Engine</a:t>
            </a:r>
          </a:p>
          <a:p>
            <a:pPr>
              <a:spcBef>
                <a:spcPts val="200"/>
              </a:spcBef>
              <a:defRPr sz="850">
                <a:solidFill>
                  <a:srgbClr val="334155"/>
                </a:solidFill>
                <a:latin typeface="Calibri"/>
              </a:defRPr>
            </a:pPr>
            <a:r>
              <a:rPr sz="1300" dirty="0"/>
              <a:t>The deployed pipeline silently evaluates the input using the optimal model. Threshold slider allows operators to adjust sensitivity between Balanced Mode (0.40) and High-Recall Mode (0.25).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75120" y="3694176"/>
            <a:ext cx="4785055" cy="1024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675120" y="3694176"/>
            <a:ext cx="50800" cy="102412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850227" y="3778504"/>
            <a:ext cx="4434840" cy="85664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DC2626"/>
                </a:solidFill>
                <a:latin typeface="Calibri"/>
              </a:defRPr>
            </a:pPr>
            <a:r>
              <a:rPr sz="1500" dirty="0"/>
              <a:t>3. Dynamic Emergency Alert &amp; Risk Gauge</a:t>
            </a:r>
          </a:p>
          <a:p>
            <a:pPr>
              <a:spcBef>
                <a:spcPts val="200"/>
              </a:spcBef>
              <a:defRPr sz="850">
                <a:solidFill>
                  <a:srgbClr val="334155"/>
                </a:solidFill>
                <a:latin typeface="Calibri"/>
              </a:defRPr>
            </a:pPr>
            <a:r>
              <a:rPr sz="1300" dirty="0"/>
              <a:t>For genuine emergencies, the UI generates a high-visibility Red Emergency Alert card with pulsing hazard border, confidence progress bar (97.3% risk rating), and latency metrics (89.5 ms).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675120" y="4809744"/>
            <a:ext cx="4785055" cy="1024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675120" y="4809744"/>
            <a:ext cx="50800" cy="102412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858000" y="4882896"/>
            <a:ext cx="4434840" cy="85664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59669"/>
                </a:solidFill>
                <a:latin typeface="Calibri"/>
              </a:defRPr>
            </a:pPr>
            <a:r>
              <a:rPr sz="1500" dirty="0"/>
              <a:t>4. Deep Linguistic Diagnostics Expander</a:t>
            </a:r>
          </a:p>
          <a:p>
            <a:pPr>
              <a:spcBef>
                <a:spcPts val="200"/>
              </a:spcBef>
              <a:defRPr sz="850">
                <a:solidFill>
                  <a:srgbClr val="334155"/>
                </a:solidFill>
                <a:latin typeface="Calibri"/>
              </a:defRPr>
            </a:pPr>
            <a:r>
              <a:rPr sz="1300" dirty="0"/>
              <a:t>Operator inspects structural metadata (length, URLs, hashtags), VADER polarity (compound -0.38), detected hazard keywords ('wildfire', 'evacuation'), and slang counter-signals</a:t>
            </a:r>
            <a:r>
              <a:rPr dirty="0"/>
              <a:t>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5989320"/>
            <a:ext cx="10728655" cy="530352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731520" y="5989320"/>
            <a:ext cx="63500" cy="53035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14400" y="6062472"/>
            <a:ext cx="10408615" cy="4616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500" b="1" dirty="0">
                <a:solidFill>
                  <a:srgbClr val="059669"/>
                </a:solidFill>
                <a:latin typeface="Calibri"/>
              </a:rPr>
              <a:t>💡 APPLICATION WORKING INSIGHT: </a:t>
            </a:r>
            <a:r>
              <a:rPr sz="1500" dirty="0">
                <a:solidFill>
                  <a:srgbClr val="0F172A"/>
                </a:solidFill>
                <a:latin typeface="Calibri"/>
              </a:rPr>
              <a:t>Engineered by Govind Mishra, the Streamlit app delivers instantaneous civil hazard assessment (&lt;90 ms) with full linguistic transparency, bridging complex ML models and real-world emergency dispatchers.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92608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Calibri"/>
              </a:defRPr>
            </a:pPr>
            <a:r>
              <a:rPr dirty="0"/>
              <a:t>APPLICATION WORKING: METAPHOR DISAMBIGUATION &amp; BATCH PROCESSING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30352"/>
            <a:ext cx="10728655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Calibri"/>
              </a:defRPr>
            </a:pPr>
            <a:r>
              <a:t>Slang Neutralization Demonstration &amp; Scalable Batch CSV Stream Ingestion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60120"/>
            <a:ext cx="10728655" cy="2308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>
                <a:solidFill>
                  <a:srgbClr val="64748B"/>
                </a:solidFill>
                <a:latin typeface="Calibri"/>
              </a:defRPr>
            </a:pPr>
            <a:r>
              <a:rPr sz="1500" dirty="0"/>
              <a:t>Screen capture on localhost:8505 demonstrating informal banter disambiguation and enterprise batch prediction.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61872"/>
            <a:ext cx="10728655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243839" y="1463040"/>
            <a:ext cx="6263945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app_screenshot_metaph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980" y="1663827"/>
            <a:ext cx="5614416" cy="370370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84200" y="5504688"/>
            <a:ext cx="5770880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 dirty="0">
                <a:solidFill>
                  <a:srgbClr val="0F172A"/>
                </a:solidFill>
                <a:latin typeface="Calibri"/>
              </a:rPr>
              <a:t>Live Application Console: Metaphor Disambiguation Output  </a:t>
            </a:r>
            <a:r>
              <a:rPr sz="1200" dirty="0">
                <a:solidFill>
                  <a:srgbClr val="64748B"/>
                </a:solidFill>
                <a:latin typeface="Calibri"/>
              </a:rPr>
              <a:t>Screen capture from localhost:8505: 'math test was a total disaster, got body bagged' classified as ALL CLEAR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75120" y="1463040"/>
            <a:ext cx="5275580" cy="1024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675120" y="1463040"/>
            <a:ext cx="50800" cy="102412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865925" y="1483330"/>
            <a:ext cx="4973473" cy="10567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59669"/>
                </a:solidFill>
                <a:latin typeface="Calibri"/>
              </a:defRPr>
            </a:pPr>
            <a:r>
              <a:rPr sz="1500" dirty="0"/>
              <a:t>Metaphor Disambiguation in Action</a:t>
            </a:r>
          </a:p>
          <a:p>
            <a:pPr>
              <a:spcBef>
                <a:spcPts val="200"/>
              </a:spcBef>
              <a:defRPr sz="850">
                <a:solidFill>
                  <a:srgbClr val="334155"/>
                </a:solidFill>
                <a:latin typeface="Calibri"/>
              </a:defRPr>
            </a:pPr>
            <a:r>
              <a:rPr sz="1300" dirty="0"/>
              <a:t>When presented with 'My math test was a total disaster today, I got body bagged by question 4 </a:t>
            </a:r>
            <a:r>
              <a:rPr sz="1300" dirty="0" err="1"/>
              <a:t>loool</a:t>
            </a:r>
            <a:r>
              <a:rPr sz="1300" dirty="0"/>
              <a:t>', the engine detects slang tokens ('</a:t>
            </a:r>
            <a:r>
              <a:rPr sz="1300" dirty="0" err="1"/>
              <a:t>loool</a:t>
            </a:r>
            <a:r>
              <a:rPr sz="1300" dirty="0"/>
              <a:t>') and positive/neutral VADER scores to suppress false emergency alarms, rendering the Emerald Green ALL CLEAR card.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675120" y="2578608"/>
            <a:ext cx="5275580" cy="1024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675120" y="2578608"/>
            <a:ext cx="50800" cy="10241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858000" y="2651760"/>
            <a:ext cx="5092700" cy="82586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Calibri"/>
              </a:defRPr>
            </a:pPr>
            <a:r>
              <a:rPr sz="1300" dirty="0"/>
              <a:t>Batch CSV Ingestion Engine (Tab 2)</a:t>
            </a:r>
          </a:p>
          <a:p>
            <a:pPr>
              <a:spcBef>
                <a:spcPts val="200"/>
              </a:spcBef>
              <a:defRPr sz="850">
                <a:solidFill>
                  <a:srgbClr val="334155"/>
                </a:solidFill>
                <a:latin typeface="Calibri"/>
              </a:defRPr>
            </a:pPr>
            <a:r>
              <a:rPr sz="1300" dirty="0"/>
              <a:t>Emergency managers can upload entire CSV datasets or run built-in demo batches. The engine automatically discovers text columns ('tweet', 'text', 'message') and processes thousands of records with live progress tracking.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75120" y="3694176"/>
            <a:ext cx="5275580" cy="1024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675120" y="3694176"/>
            <a:ext cx="50800" cy="102412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858000" y="3767328"/>
            <a:ext cx="5092700" cy="82586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7C3AED"/>
                </a:solidFill>
                <a:latin typeface="Calibri"/>
              </a:defRPr>
            </a:pPr>
            <a:r>
              <a:rPr sz="1300" dirty="0" smtClean="0"/>
              <a:t>Batch Analytics &amp; Visual Summaries</a:t>
            </a:r>
          </a:p>
          <a:p>
            <a:pPr>
              <a:spcBef>
                <a:spcPts val="200"/>
              </a:spcBef>
              <a:defRPr sz="850">
                <a:solidFill>
                  <a:srgbClr val="334155"/>
                </a:solidFill>
                <a:latin typeface="Calibri"/>
              </a:defRPr>
            </a:pPr>
            <a:r>
              <a:rPr sz="1300" dirty="0" smtClean="0"/>
              <a:t>Generates real-time executive KPIs: Total Processed, Disasters Identified (%), Safe Records (%), and Throughput (tweets/sec). Renders interactive Donut charts and probability distribution histograms</a:t>
            </a:r>
            <a:r>
              <a:rPr dirty="0" smtClean="0"/>
              <a:t>.</a:t>
            </a:r>
            <a:endParaRPr dirty="0"/>
          </a:p>
        </p:txBody>
      </p:sp>
      <p:sp>
        <p:nvSpPr>
          <p:cNvPr id="19" name="Rounded Rectangle 18"/>
          <p:cNvSpPr/>
          <p:nvPr/>
        </p:nvSpPr>
        <p:spPr>
          <a:xfrm>
            <a:off x="6675120" y="4809744"/>
            <a:ext cx="5389880" cy="1024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675120" y="4809744"/>
            <a:ext cx="50800" cy="10241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858000" y="4882896"/>
            <a:ext cx="5334000" cy="82586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D97706"/>
                </a:solidFill>
                <a:latin typeface="Calibri"/>
              </a:defRPr>
            </a:pPr>
            <a:r>
              <a:rPr sz="1300" dirty="0"/>
              <a:t>Filterable Data Table &amp; CSV Export</a:t>
            </a:r>
          </a:p>
          <a:p>
            <a:pPr>
              <a:spcBef>
                <a:spcPts val="200"/>
              </a:spcBef>
              <a:defRPr sz="850">
                <a:solidFill>
                  <a:srgbClr val="334155"/>
                </a:solidFill>
                <a:latin typeface="Calibri"/>
              </a:defRPr>
            </a:pPr>
            <a:r>
              <a:rPr sz="1300" dirty="0"/>
              <a:t>Provides an interactive data table with 1-click filtering ('All', 'Crises Only 🚨', 'Non-Emergency Only 🟢') and instant download of fully annotated CSV predictions ('emergency_predictions_govind_mishra.csv').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5989320"/>
            <a:ext cx="10728655" cy="530352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731520" y="5989320"/>
            <a:ext cx="63500" cy="53035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91539" y="6087235"/>
            <a:ext cx="10408615" cy="4616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500" b="1" dirty="0">
                <a:solidFill>
                  <a:srgbClr val="059669"/>
                </a:solidFill>
                <a:latin typeface="Calibri"/>
              </a:rPr>
              <a:t>💡 METAPHOR &amp; BATCH CAPABILITY: </a:t>
            </a:r>
            <a:r>
              <a:rPr sz="1500" dirty="0">
                <a:solidFill>
                  <a:srgbClr val="0F172A"/>
                </a:solidFill>
                <a:latin typeface="Calibri"/>
              </a:rPr>
              <a:t>The platform resolves colloquial metaphors that confuse standard keyword bots, and scales effortlessly to bulk CSV stream ingestion with instantaneous annotated reporting</a:t>
            </a:r>
            <a:r>
              <a:rPr sz="900" dirty="0">
                <a:solidFill>
                  <a:srgbClr val="0F172A"/>
                </a:solidFill>
                <a:latin typeface="Calibri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1" y="0"/>
            <a:ext cx="12191695" cy="6858000"/>
          </a:xfrm>
          <a:prstGeom prst="rect">
            <a:avLst/>
          </a:prstGeom>
          <a:solidFill>
            <a:srgbClr val="0B1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92608"/>
            <a:ext cx="7315200" cy="2308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60A5FA"/>
                </a:solidFill>
                <a:latin typeface="Calibri"/>
              </a:defRPr>
            </a:pPr>
            <a:r>
              <a:rPr sz="1500" dirty="0"/>
              <a:t>EXECUTIVE RECOMMENDATIONS &amp;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30352"/>
            <a:ext cx="10728655" cy="3847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Calibri"/>
              </a:defRPr>
            </a:pPr>
            <a:r>
              <a:rPr sz="2500" dirty="0" smtClean="0"/>
              <a:t>Senior Data Scientist Strategic Insights &amp; Enterprise Architecture Roadmap</a:t>
            </a:r>
            <a:endParaRPr sz="2500" dirty="0"/>
          </a:p>
        </p:txBody>
      </p:sp>
      <p:sp>
        <p:nvSpPr>
          <p:cNvPr id="5" name="TextBox 4"/>
          <p:cNvSpPr txBox="1"/>
          <p:nvPr/>
        </p:nvSpPr>
        <p:spPr>
          <a:xfrm>
            <a:off x="731520" y="960120"/>
            <a:ext cx="10728655" cy="2308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>
                <a:solidFill>
                  <a:srgbClr val="CBD5E1"/>
                </a:solidFill>
                <a:latin typeface="Calibri"/>
              </a:defRPr>
            </a:pPr>
            <a:r>
              <a:rPr sz="1500" dirty="0"/>
              <a:t>Operational recommendations for enterprise deployment, automated model governance, and multi-modal integration.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61872"/>
            <a:ext cx="10728655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09600" y="1463040"/>
            <a:ext cx="2663952" cy="43891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1463040"/>
            <a:ext cx="2542032" cy="508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1" y="1627632"/>
            <a:ext cx="2665678" cy="27751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2563EB"/>
                </a:solidFill>
                <a:latin typeface="Calibri"/>
              </a:defRPr>
            </a:pPr>
            <a:r>
              <a:rPr dirty="0"/>
              <a:t>01</a:t>
            </a:r>
          </a:p>
          <a:p>
            <a:pPr>
              <a:spcBef>
                <a:spcPts val="400"/>
              </a:spcBef>
              <a:defRPr sz="1200" b="1">
                <a:solidFill>
                  <a:srgbClr val="FFFFFF"/>
                </a:solidFill>
                <a:latin typeface="Calibri"/>
              </a:defRPr>
            </a:pPr>
            <a:r>
              <a:rPr sz="1500" dirty="0" smtClean="0"/>
              <a:t>Two-Tier Cascaded Ingestion Architecture</a:t>
            </a:r>
          </a:p>
          <a:p>
            <a:pPr>
              <a:spcBef>
                <a:spcPts val="800"/>
              </a:spcBef>
              <a:defRPr sz="900">
                <a:solidFill>
                  <a:srgbClr val="CBD5E1"/>
                </a:solidFill>
                <a:latin typeface="Calibri"/>
              </a:defRPr>
            </a:pPr>
            <a:r>
              <a:rPr sz="1500" dirty="0" smtClean="0"/>
              <a:t>• Route uncertain border cases (probabilities 0.35 ≤ P ≤ 0.65) to</a:t>
            </a:r>
            <a:endParaRPr lang="en-US" sz="1500" dirty="0" smtClean="0"/>
          </a:p>
          <a:p>
            <a:pPr>
              <a:spcBef>
                <a:spcPts val="800"/>
              </a:spcBef>
              <a:defRPr sz="900">
                <a:solidFill>
                  <a:srgbClr val="CBD5E1"/>
                </a:solidFill>
                <a:latin typeface="Calibri"/>
              </a:defRPr>
            </a:pPr>
            <a:r>
              <a:rPr sz="1500" dirty="0" smtClean="0"/>
              <a:t> DistilBERT Transformer for deep semantic disambiguation.</a:t>
            </a:r>
          </a:p>
          <a:p>
            <a:pPr>
              <a:spcBef>
                <a:spcPts val="800"/>
              </a:spcBef>
              <a:defRPr sz="900">
                <a:solidFill>
                  <a:srgbClr val="CBD5E1"/>
                </a:solidFill>
                <a:latin typeface="Calibri"/>
              </a:defRPr>
            </a:pPr>
            <a:r>
              <a:rPr sz="1500" dirty="0" smtClean="0"/>
              <a:t>• Optimizes cloud GPU compute costs by 85% while preserving 87.8% peak accuracy.</a:t>
            </a:r>
            <a:endParaRPr sz="1500" dirty="0"/>
          </a:p>
        </p:txBody>
      </p:sp>
      <p:sp>
        <p:nvSpPr>
          <p:cNvPr id="10" name="Rounded Rectangle 9"/>
          <p:cNvSpPr/>
          <p:nvPr/>
        </p:nvSpPr>
        <p:spPr>
          <a:xfrm>
            <a:off x="4064508" y="1437640"/>
            <a:ext cx="2569464" cy="43891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064508" y="1437640"/>
            <a:ext cx="2542032" cy="508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229100" y="1602232"/>
            <a:ext cx="2221992" cy="416011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59669"/>
                </a:solidFill>
                <a:latin typeface="Calibri"/>
              </a:defRPr>
            </a:pPr>
            <a:r>
              <a:rPr dirty="0"/>
              <a:t>02</a:t>
            </a:r>
          </a:p>
          <a:p>
            <a:pPr>
              <a:spcBef>
                <a:spcPts val="400"/>
              </a:spcBef>
              <a:defRPr sz="1200" b="1">
                <a:solidFill>
                  <a:srgbClr val="FFFFFF"/>
                </a:solidFill>
                <a:latin typeface="Calibri"/>
              </a:defRPr>
            </a:pPr>
            <a:r>
              <a:rPr sz="1500" dirty="0"/>
              <a:t>Automated Concept Drift &amp; Slang Monitoring</a:t>
            </a:r>
          </a:p>
          <a:p>
            <a:pPr>
              <a:spcBef>
                <a:spcPts val="800"/>
              </a:spcBef>
              <a:defRPr sz="900">
                <a:solidFill>
                  <a:srgbClr val="CBD5E1"/>
                </a:solidFill>
                <a:latin typeface="Calibri"/>
              </a:defRPr>
            </a:pPr>
            <a:r>
              <a:rPr sz="1500" dirty="0"/>
              <a:t>• Social media slang evolves rapidly; implement automated drift detection monitoring VADER polarity distribution and TF-IDF vocabulary shifts.</a:t>
            </a:r>
          </a:p>
          <a:p>
            <a:pPr>
              <a:spcBef>
                <a:spcPts val="800"/>
              </a:spcBef>
              <a:defRPr sz="900">
                <a:solidFill>
                  <a:srgbClr val="CBD5E1"/>
                </a:solidFill>
                <a:latin typeface="Calibri"/>
              </a:defRPr>
            </a:pPr>
            <a:r>
              <a:rPr sz="1500" dirty="0"/>
              <a:t>• Establish automated retraining cadence triggered when Kolmogorov-Smirnov test flags feature drift.</a:t>
            </a:r>
          </a:p>
          <a:p>
            <a:pPr>
              <a:spcBef>
                <a:spcPts val="800"/>
              </a:spcBef>
              <a:defRPr sz="900">
                <a:solidFill>
                  <a:srgbClr val="CBD5E1"/>
                </a:solidFill>
                <a:latin typeface="Calibri"/>
              </a:defRPr>
            </a:pPr>
            <a:r>
              <a:rPr sz="1500" dirty="0"/>
              <a:t>• Maintain human-in-the-loop audit queue for low-confidence classifications.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70369" y="1437640"/>
            <a:ext cx="2542032" cy="43891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370369" y="1412240"/>
            <a:ext cx="2542032" cy="508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534961" y="1602232"/>
            <a:ext cx="2377440" cy="426270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7C3AED"/>
                </a:solidFill>
                <a:latin typeface="Calibri"/>
              </a:defRPr>
            </a:pPr>
            <a:r>
              <a:rPr dirty="0"/>
              <a:t>03</a:t>
            </a:r>
          </a:p>
          <a:p>
            <a:pPr>
              <a:spcBef>
                <a:spcPts val="400"/>
              </a:spcBef>
              <a:defRPr sz="1200" b="1">
                <a:solidFill>
                  <a:srgbClr val="FFFFFF"/>
                </a:solidFill>
                <a:latin typeface="Calibri"/>
              </a:defRPr>
            </a:pPr>
            <a:r>
              <a:rPr sz="1500" dirty="0"/>
              <a:t>Multi-Modal Geospatial Fusion</a:t>
            </a:r>
          </a:p>
          <a:p>
            <a:pPr>
              <a:spcBef>
                <a:spcPts val="800"/>
              </a:spcBef>
              <a:defRPr sz="900">
                <a:solidFill>
                  <a:srgbClr val="CBD5E1"/>
                </a:solidFill>
                <a:latin typeface="Calibri"/>
              </a:defRPr>
            </a:pPr>
            <a:r>
              <a:rPr sz="1500" dirty="0"/>
              <a:t>• Incorporate tweet metadata location coordinates and reverse geocoding to cluster geographic hazard epicenters.</a:t>
            </a:r>
          </a:p>
          <a:p>
            <a:pPr>
              <a:spcBef>
                <a:spcPts val="800"/>
              </a:spcBef>
              <a:defRPr sz="900">
                <a:solidFill>
                  <a:srgbClr val="CBD5E1"/>
                </a:solidFill>
                <a:latin typeface="Calibri"/>
              </a:defRPr>
            </a:pPr>
            <a:r>
              <a:rPr sz="1500" dirty="0"/>
              <a:t>• Extend pipeline with computer vision models (Vision Transformers) to classify attached incident photos/videos.</a:t>
            </a:r>
          </a:p>
          <a:p>
            <a:pPr>
              <a:spcBef>
                <a:spcPts val="800"/>
              </a:spcBef>
              <a:defRPr sz="900">
                <a:solidFill>
                  <a:srgbClr val="CBD5E1"/>
                </a:solidFill>
                <a:latin typeface="Calibri"/>
              </a:defRPr>
            </a:pPr>
            <a:r>
              <a:rPr sz="1500" dirty="0"/>
              <a:t>• Cross-reference </a:t>
            </a:r>
            <a:r>
              <a:rPr sz="1500" dirty="0" err="1" smtClean="0"/>
              <a:t>wea</a:t>
            </a:r>
            <a:endParaRPr lang="en-US" sz="1500" dirty="0" smtClean="0"/>
          </a:p>
          <a:p>
            <a:pPr>
              <a:spcBef>
                <a:spcPts val="800"/>
              </a:spcBef>
              <a:defRPr sz="900">
                <a:solidFill>
                  <a:srgbClr val="CBD5E1"/>
                </a:solidFill>
                <a:latin typeface="Calibri"/>
              </a:defRPr>
            </a:pPr>
            <a:r>
              <a:rPr sz="1500" dirty="0" err="1" smtClean="0"/>
              <a:t>ther</a:t>
            </a:r>
            <a:r>
              <a:rPr sz="1500" dirty="0" smtClean="0"/>
              <a:t> </a:t>
            </a:r>
            <a:r>
              <a:rPr sz="1500" dirty="0"/>
              <a:t>radar feeds with real-time Twitter incident volume spikes.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5989320"/>
            <a:ext cx="10728655" cy="530352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731520" y="5989320"/>
            <a:ext cx="63500" cy="53035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14400" y="6062472"/>
            <a:ext cx="10408615" cy="4616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500" b="1" dirty="0">
                <a:solidFill>
                  <a:srgbClr val="059669"/>
                </a:solidFill>
                <a:latin typeface="Calibri"/>
              </a:rPr>
              <a:t>💡 FINAL STRATEGIC VERDICT: </a:t>
            </a:r>
            <a:r>
              <a:rPr sz="1500" dirty="0">
                <a:solidFill>
                  <a:srgbClr val="CBD5E1"/>
                </a:solidFill>
                <a:latin typeface="Calibri"/>
              </a:rPr>
              <a:t>Crisis Sentinel delivers an enterprise-ready, sub-millisecond, calibrated NLP disaster intelligence system engineered by GOVIND MISHRA, balancing 87.8% peak accuracy with sub-0.17 ms stream latency and cutting false alarms by &gt;45%.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120900" y="3019425"/>
            <a:ext cx="7772400" cy="1470025"/>
          </a:xfrm>
        </p:spPr>
        <p:txBody>
          <a:bodyPr/>
          <a:lstStyle/>
          <a:p>
            <a:r>
              <a:rPr lang="en-US" dirty="0" smtClean="0"/>
              <a:t>THANKYOU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16000" cy="6858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11176000" y="0"/>
            <a:ext cx="1016000" cy="6858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78352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199</TotalTime>
  <Words>2499</Words>
  <Application>Microsoft Office PowerPoint</Application>
  <PresentationFormat>Widescreen</PresentationFormat>
  <Paragraphs>187</Paragraphs>
  <Slides>12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admin</cp:lastModifiedBy>
  <cp:revision>20</cp:revision>
  <dcterms:created xsi:type="dcterms:W3CDTF">2013-01-27T09:14:16Z</dcterms:created>
  <dcterms:modified xsi:type="dcterms:W3CDTF">2026-10-14T12:49:50Z</dcterms:modified>
  <cp:category/>
</cp:coreProperties>
</file>